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301" r:id="rId3"/>
    <p:sldId id="259" r:id="rId4"/>
    <p:sldId id="260" r:id="rId5"/>
    <p:sldId id="282" r:id="rId6"/>
    <p:sldId id="261" r:id="rId7"/>
    <p:sldId id="274" r:id="rId8"/>
    <p:sldId id="273" r:id="rId9"/>
    <p:sldId id="262" r:id="rId10"/>
    <p:sldId id="263" r:id="rId11"/>
    <p:sldId id="268" r:id="rId12"/>
    <p:sldId id="269" r:id="rId13"/>
    <p:sldId id="270" r:id="rId14"/>
    <p:sldId id="264" r:id="rId15"/>
    <p:sldId id="275" r:id="rId16"/>
    <p:sldId id="276" r:id="rId17"/>
    <p:sldId id="265" r:id="rId18"/>
    <p:sldId id="266" r:id="rId19"/>
    <p:sldId id="278" r:id="rId20"/>
    <p:sldId id="285" r:id="rId21"/>
    <p:sldId id="287" r:id="rId22"/>
    <p:sldId id="288" r:id="rId23"/>
    <p:sldId id="289" r:id="rId24"/>
    <p:sldId id="290" r:id="rId25"/>
    <p:sldId id="291" r:id="rId26"/>
    <p:sldId id="293" r:id="rId27"/>
    <p:sldId id="292" r:id="rId28"/>
    <p:sldId id="294" r:id="rId29"/>
    <p:sldId id="295" r:id="rId30"/>
    <p:sldId id="296" r:id="rId31"/>
    <p:sldId id="297" r:id="rId32"/>
    <p:sldId id="298" r:id="rId33"/>
    <p:sldId id="299" r:id="rId34"/>
  </p:sldIdLst>
  <p:sldSz cx="12192000" cy="6858000"/>
  <p:notesSz cx="6858000" cy="9144000"/>
  <p:embeddedFontLst>
    <p:embeddedFont>
      <p:font typeface="Pixelify Sans" pitchFamily="2" charset="0"/>
      <p:regular r:id="rId35"/>
      <p:bold r:id="rId36"/>
    </p:embeddedFont>
    <p:embeddedFont>
      <p:font typeface="Pixelify Sans Medium" pitchFamily="2" charset="0"/>
      <p:regular r:id="rId3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521"/>
    <a:srgbClr val="FD6BE8"/>
    <a:srgbClr val="061738"/>
    <a:srgbClr val="21FFD5"/>
    <a:srgbClr val="FA0000"/>
    <a:srgbClr val="BC0000"/>
    <a:srgbClr val="DFFF21"/>
    <a:srgbClr val="FC24DD"/>
    <a:srgbClr val="00FFCC"/>
    <a:srgbClr val="041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1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89DE3-4C88-52D9-6FFC-3E3B14829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DAA4D2-BEB9-48E8-604E-5DFACBEB7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B4A9FA-9361-553C-C259-71FAACE2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1621C3-6459-D409-C7B2-F0F8BE21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DED9DE-14B8-FA1C-3C0A-A0C41AFC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09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BE230-5E0A-FA37-13DE-52F1B92A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5FBFC1-49E4-A685-F4A6-47144A1FC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D45773-EEB4-1F13-AC1F-9CD9DFE2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EB05FA-3E4C-74BA-5396-333DDE29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AE9513-9BBB-A51F-1F7C-A5B482DA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22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D1522-0BB5-38D9-2B99-B593A345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132ADB-0A6B-79B0-5AF5-B6AFE6AEA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4B01A2-A8CF-7A1D-B46B-268ED278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56D3ED-4A0E-288B-8535-8203ABE6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3BFC3B-1E79-5673-DAC5-4E6D7E73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14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8817D-5F01-AF9B-923D-D998872B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981677-DCB7-890B-0A4A-23A133790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C086E3-33C7-D335-5253-E866170B9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53FEFB-5AEE-8A22-0AFB-2F4F3680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040A08-8D3E-5CF9-B0BF-2D6BB6AA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39F9AF-E237-5A79-AD7C-99A3A38D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77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71094-6346-EA1B-FAED-8E3B8421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3358B1-A390-C35A-3B7A-85251D690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7DB463-587D-72A4-FDDE-1626569E6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F87084-6CE2-AFC8-B189-56109FFF5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37239D-F5B5-267B-0CE4-DF00E5927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0E5D99-25D7-2013-71BF-B03B78FE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F18A29-49CE-31BE-567D-452964A7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A9EBA9-3196-4B4A-429E-FDD9935A4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9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58C23-7366-B134-4AB2-FE5A1B99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4417BE-1879-DFC6-CB03-ABCFA88B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BEB5A2-2831-0E46-36A6-0C5CFBFD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0DC715-33A6-637D-78F9-77253E9D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19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B7B875-E852-9345-1F84-B5D182E8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C9204E-CE9D-2B92-9E28-07823A46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1CA81E-9443-5415-4418-9FB43EAF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12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8DE13-8465-7394-2B97-10F67C1B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221A87-F54D-202F-B4C0-8A81836D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7AEE02-43F4-8EA2-86CE-940C12669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B0D789-29A1-5FFB-89DD-6DDAD7EA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69DF97-655E-5DF2-8B95-723DFADB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C2700C-9277-21DE-AD8B-21CF066D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23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CDF0-8830-1EA0-E7CE-4A58806A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ECA1D8-7229-205B-DBDF-D93B4946E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7DA62C-C6F3-8492-9A15-8B97965DF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4C6864-1C28-77EF-07B3-34CEAB58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884E18-7A67-0F83-DEBF-55CAB63C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A22063-E130-AD90-5B76-0E3FE5DD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37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95DF9-F179-3115-729C-176DE5C1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16864A-0D24-B25F-FA57-8C495B2C8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44AF3-06E5-0F76-77BD-82990B6F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7C5879-F5DC-5ED8-3995-7DE39ACE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3E0F2E-B9FC-828A-E779-0062D286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6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3EACA2-F4BB-EC7A-9C6E-35599D4F5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B5E544-DF62-0691-1A6C-D3E795508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AB13C6-2B04-3498-D096-3012B9D6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7DCBA2-4D20-BD9F-B08C-D05AF031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815D48-43F6-50B5-C2B4-AE4C79C3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01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BCBAF-0F4F-6AFC-AE06-F26F2C5C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2790EF-66DA-03D9-0EC8-7CE8C5E0E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588460-7FC6-5D2C-2DF6-2253DE63A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E8A7C-A38B-4C16-959B-8BC879A7D8CF}" type="datetimeFigureOut">
              <a:rPr lang="ru-RU" smtClean="0"/>
              <a:t>17.05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4FAACD-35F0-6D47-91E6-EDC5765BB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AAFAA-347E-7F1D-A4CC-7CABD777F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FDC67-5155-49C0-AF88-46FDA6DF90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9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5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1AE992-D910-CADE-E123-4DD59FC82E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AFC861-150C-11E6-AD5F-BBB9179A4EA4}"/>
              </a:ext>
            </a:extLst>
          </p:cNvPr>
          <p:cNvSpPr/>
          <p:nvPr/>
        </p:nvSpPr>
        <p:spPr>
          <a:xfrm>
            <a:off x="185738" y="177800"/>
            <a:ext cx="8148410" cy="447765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0EBD9BF-5ABC-86CC-13F1-C13A6AA32F87}"/>
              </a:ext>
            </a:extLst>
          </p:cNvPr>
          <p:cNvSpPr/>
          <p:nvPr/>
        </p:nvSpPr>
        <p:spPr>
          <a:xfrm>
            <a:off x="185738" y="4833257"/>
            <a:ext cx="11828462" cy="184694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5B483-9F79-A5D5-879F-951D5D926E3D}"/>
              </a:ext>
            </a:extLst>
          </p:cNvPr>
          <p:cNvSpPr txBox="1"/>
          <p:nvPr/>
        </p:nvSpPr>
        <p:spPr>
          <a:xfrm>
            <a:off x="621396" y="691380"/>
            <a:ext cx="72770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" sz="9600" dirty="0">
                <a:solidFill>
                  <a:srgbClr val="21FFD5"/>
                </a:solidFill>
                <a:latin typeface="Pixelify Sans Medium" pitchFamily="2" charset="0"/>
              </a:rPr>
              <a:t>Conway game of life</a:t>
            </a:r>
            <a:endParaRPr lang="ru-RU" sz="9600" dirty="0">
              <a:solidFill>
                <a:srgbClr val="21FFD5"/>
              </a:solidFill>
              <a:latin typeface="Pixelify Sans Mediu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30FE3C-FD14-22D3-BAF6-FEAF0FFCA87B}"/>
              </a:ext>
            </a:extLst>
          </p:cNvPr>
          <p:cNvSpPr txBox="1"/>
          <p:nvPr/>
        </p:nvSpPr>
        <p:spPr>
          <a:xfrm>
            <a:off x="415476" y="4957178"/>
            <a:ext cx="4965700" cy="1555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Filippova Daria 24216</a:t>
            </a:r>
            <a:endParaRPr lang="ru-RU" sz="28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Muruev Denis 24216</a:t>
            </a:r>
            <a:endParaRPr lang="ru-RU" sz="28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Vilegzhanin Maksim 24216</a:t>
            </a:r>
            <a:endParaRPr lang="ru-RU" sz="28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</p:txBody>
      </p:sp>
      <p:pic>
        <p:nvPicPr>
          <p:cNvPr id="17" name="Рисунок 16" descr="Изображение выглядит как прямоугольный, шаблон, Прямоугольник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B22276-692F-7684-6413-3FD1AD420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243" y="-4284875"/>
            <a:ext cx="2325914" cy="2325914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712C4DF-C6BA-1F1D-2E4B-9B83648E087A}"/>
              </a:ext>
            </a:extLst>
          </p:cNvPr>
          <p:cNvSpPr/>
          <p:nvPr/>
        </p:nvSpPr>
        <p:spPr>
          <a:xfrm>
            <a:off x="8519886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6567AF7-7613-539D-8635-69AD50E33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520" y="293041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7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83A17-0C15-65C0-25E5-375D5F27D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33DA2D2-16D2-D643-32D8-D34D8B350A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154458B-73D5-C8F3-BA61-153658AE0D43}"/>
              </a:ext>
            </a:extLst>
          </p:cNvPr>
          <p:cNvSpPr/>
          <p:nvPr/>
        </p:nvSpPr>
        <p:spPr>
          <a:xfrm>
            <a:off x="185738" y="177800"/>
            <a:ext cx="8148410" cy="153559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AD366FF-DC83-D2F6-1A92-1463BAF43455}"/>
              </a:ext>
            </a:extLst>
          </p:cNvPr>
          <p:cNvSpPr/>
          <p:nvPr/>
        </p:nvSpPr>
        <p:spPr>
          <a:xfrm>
            <a:off x="185738" y="1891190"/>
            <a:ext cx="8148410" cy="478900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516B8-3648-7F9C-48FA-0F8CD504CABF}"/>
              </a:ext>
            </a:extLst>
          </p:cNvPr>
          <p:cNvSpPr txBox="1"/>
          <p:nvPr/>
        </p:nvSpPr>
        <p:spPr>
          <a:xfrm>
            <a:off x="650848" y="2226025"/>
            <a:ext cx="72770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B521"/>
                </a:solidFill>
                <a:latin typeface="Pixelify Sans Medium" pitchFamily="2" charset="0"/>
              </a:rPr>
              <a:t>Create a workable model of Conway Game of Life game combining hardware and software using CDM-8e</a:t>
            </a:r>
            <a:endParaRPr lang="ru-RU" sz="4800" dirty="0">
              <a:solidFill>
                <a:srgbClr val="FFB521"/>
              </a:solidFill>
              <a:latin typeface="Pixelify Sans Medium" pitchFamily="2" charset="0"/>
            </a:endParaRPr>
          </a:p>
          <a:p>
            <a:endParaRPr lang="ru-RU" sz="4400" dirty="0">
              <a:solidFill>
                <a:srgbClr val="FFB521"/>
              </a:solidFill>
              <a:latin typeface="Pixelify Sans Medium" pitchFamily="2" charset="0"/>
            </a:endParaRPr>
          </a:p>
        </p:txBody>
      </p:sp>
      <p:pic>
        <p:nvPicPr>
          <p:cNvPr id="17" name="Рисунок 16" descr="Изображение выглядит как прямоугольный, шаблон, Прямоугольник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F3C24DA-F840-BB64-D59D-90ED1D374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243" y="-4284875"/>
            <a:ext cx="2325914" cy="2325914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3CAAEE9-2145-CABC-82B0-2E2F4AB848B3}"/>
              </a:ext>
            </a:extLst>
          </p:cNvPr>
          <p:cNvSpPr/>
          <p:nvPr/>
        </p:nvSpPr>
        <p:spPr>
          <a:xfrm>
            <a:off x="8519886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C027C15-B7C0-F018-A8C2-1A4546C4D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520" y="293041"/>
            <a:ext cx="3258570" cy="42326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CC9CA7-8CD3-2676-C275-EB049DA64CE1}"/>
              </a:ext>
            </a:extLst>
          </p:cNvPr>
          <p:cNvSpPr txBox="1"/>
          <p:nvPr/>
        </p:nvSpPr>
        <p:spPr>
          <a:xfrm>
            <a:off x="470476" y="107660"/>
            <a:ext cx="51490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21FFD5"/>
                </a:solidFill>
                <a:latin typeface="Pixelify Sans Medium" pitchFamily="2" charset="0"/>
              </a:rPr>
              <a:t>Goal</a:t>
            </a:r>
            <a:endParaRPr lang="ru-RU" sz="9600" dirty="0">
              <a:solidFill>
                <a:srgbClr val="21FFD5"/>
              </a:solidFill>
              <a:latin typeface="Pixelify Sans Medium" pitchFamily="2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9175EFE-C5F9-CF9C-7E37-036F36C80EA5}"/>
              </a:ext>
            </a:extLst>
          </p:cNvPr>
          <p:cNvSpPr/>
          <p:nvPr/>
        </p:nvSpPr>
        <p:spPr>
          <a:xfrm>
            <a:off x="8528616" y="4818743"/>
            <a:ext cx="3486377" cy="184694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D5613-0B8B-598F-23B1-0CC153847B52}"/>
              </a:ext>
            </a:extLst>
          </p:cNvPr>
          <p:cNvSpPr txBox="1"/>
          <p:nvPr/>
        </p:nvSpPr>
        <p:spPr>
          <a:xfrm>
            <a:off x="8613520" y="5173468"/>
            <a:ext cx="4043590" cy="1137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Filippova Daria 24216</a:t>
            </a:r>
            <a:endParaRPr lang="ru-RU" sz="20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Muruev Denis 24216</a:t>
            </a:r>
            <a:endParaRPr lang="ru-RU" sz="20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21FFD5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Vilegzhanin Maksim 24216</a:t>
            </a:r>
            <a:endParaRPr lang="ru-RU" sz="2000" dirty="0">
              <a:solidFill>
                <a:srgbClr val="21FFD5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C54EC2-61A9-E0C1-5159-845D7450C357}"/>
              </a:ext>
            </a:extLst>
          </p:cNvPr>
          <p:cNvSpPr/>
          <p:nvPr/>
        </p:nvSpPr>
        <p:spPr>
          <a:xfrm>
            <a:off x="-937212" y="1829786"/>
            <a:ext cx="297691" cy="1976160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752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80457-D353-50B6-DB6B-328884B3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9794DE-8A9E-F813-81EA-7BF452EBFAD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672B96B-4A96-4E06-D1BE-72017B2BFD2C}"/>
              </a:ext>
            </a:extLst>
          </p:cNvPr>
          <p:cNvSpPr/>
          <p:nvPr/>
        </p:nvSpPr>
        <p:spPr>
          <a:xfrm>
            <a:off x="185737" y="177800"/>
            <a:ext cx="11846605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05FF8BA-227C-6DF7-DE69-2C6D824EFC4C}"/>
              </a:ext>
            </a:extLst>
          </p:cNvPr>
          <p:cNvSpPr/>
          <p:nvPr/>
        </p:nvSpPr>
        <p:spPr>
          <a:xfrm>
            <a:off x="185737" y="1832430"/>
            <a:ext cx="5794149" cy="197616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171A0-F6F8-8705-6EF4-2E4F9C82D6A1}"/>
              </a:ext>
            </a:extLst>
          </p:cNvPr>
          <p:cNvSpPr txBox="1"/>
          <p:nvPr/>
        </p:nvSpPr>
        <p:spPr>
          <a:xfrm>
            <a:off x="473188" y="324547"/>
            <a:ext cx="9991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Project extensions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C701247-DF64-37D6-ED63-1AFC821B35E4}"/>
              </a:ext>
            </a:extLst>
          </p:cNvPr>
          <p:cNvSpPr/>
          <p:nvPr/>
        </p:nvSpPr>
        <p:spPr>
          <a:xfrm>
            <a:off x="6165622" y="1832429"/>
            <a:ext cx="5840642" cy="484776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057A2-F3EB-2BAA-E715-C1360595DDF2}"/>
              </a:ext>
            </a:extLst>
          </p:cNvPr>
          <p:cNvSpPr txBox="1"/>
          <p:nvPr/>
        </p:nvSpPr>
        <p:spPr>
          <a:xfrm>
            <a:off x="616913" y="1829786"/>
            <a:ext cx="43020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Parameterized birth/survival conditions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218C3E7-E2CA-E8EB-1976-1DDE2643D0B4}"/>
              </a:ext>
            </a:extLst>
          </p:cNvPr>
          <p:cNvSpPr/>
          <p:nvPr/>
        </p:nvSpPr>
        <p:spPr>
          <a:xfrm>
            <a:off x="185736" y="3986391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B435D9-5FD8-1014-E3CE-83B82B20185A}"/>
              </a:ext>
            </a:extLst>
          </p:cNvPr>
          <p:cNvSpPr txBox="1"/>
          <p:nvPr/>
        </p:nvSpPr>
        <p:spPr>
          <a:xfrm>
            <a:off x="616913" y="3986391"/>
            <a:ext cx="50277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Pixelify Sans" pitchFamily="2" charset="0"/>
              </a:rPr>
              <a:t>Two modes: “creative” (fixed field) and “survival” (zone shrinking).</a:t>
            </a:r>
            <a:endParaRPr lang="ru-RU" sz="4000" dirty="0">
              <a:solidFill>
                <a:schemeClr val="tx1">
                  <a:lumMod val="65000"/>
                  <a:lumOff val="35000"/>
                </a:schemeClr>
              </a:solidFill>
              <a:latin typeface="Pixelify Sans" pitchFamily="2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F5A895A-A6D1-979D-8E2F-F38E9C881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47" y="1953256"/>
            <a:ext cx="5553191" cy="4580197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DB55F95-D5DC-86E8-1E69-BE3093EE0B49}"/>
              </a:ext>
            </a:extLst>
          </p:cNvPr>
          <p:cNvSpPr/>
          <p:nvPr/>
        </p:nvSpPr>
        <p:spPr>
          <a:xfrm>
            <a:off x="185736" y="1829786"/>
            <a:ext cx="297691" cy="1976160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1B65BDA-C961-5008-7429-593E4C4CD3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3" t="484" r="1041" b="2684"/>
          <a:stretch/>
        </p:blipFill>
        <p:spPr>
          <a:xfrm>
            <a:off x="12681121" y="2837072"/>
            <a:ext cx="2652172" cy="26528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FA7DD98-B3A1-EBF4-8A12-EF2F21DC2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1518" y="2817866"/>
            <a:ext cx="2652172" cy="264388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6D1F8BD-CED5-16CA-7BE9-D9BDFA0CE7B0}"/>
              </a:ext>
            </a:extLst>
          </p:cNvPr>
          <p:cNvSpPr/>
          <p:nvPr/>
        </p:nvSpPr>
        <p:spPr>
          <a:xfrm>
            <a:off x="12681121" y="-4008841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96D53B-68AF-F199-74ED-A20343049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3755" y="-3908115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94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5D70A-3AE3-8885-A9B1-C7BD668E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A83CF5-4430-644A-89B2-24973BC5558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2D371AB-7E23-692A-A620-C9AAED948CD6}"/>
              </a:ext>
            </a:extLst>
          </p:cNvPr>
          <p:cNvSpPr/>
          <p:nvPr/>
        </p:nvSpPr>
        <p:spPr>
          <a:xfrm>
            <a:off x="185737" y="177800"/>
            <a:ext cx="11846605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77BFC20-7F82-F5DC-EEDC-E2A61E08D979}"/>
              </a:ext>
            </a:extLst>
          </p:cNvPr>
          <p:cNvSpPr/>
          <p:nvPr/>
        </p:nvSpPr>
        <p:spPr>
          <a:xfrm>
            <a:off x="185737" y="1832430"/>
            <a:ext cx="5794149" cy="197616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699A6-90B8-8527-99D8-B8D08DC7ED3A}"/>
              </a:ext>
            </a:extLst>
          </p:cNvPr>
          <p:cNvSpPr txBox="1"/>
          <p:nvPr/>
        </p:nvSpPr>
        <p:spPr>
          <a:xfrm>
            <a:off x="473188" y="324547"/>
            <a:ext cx="9991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Project extensions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3C1244D-9891-08A0-0EA5-D31913DE6DB9}"/>
              </a:ext>
            </a:extLst>
          </p:cNvPr>
          <p:cNvSpPr/>
          <p:nvPr/>
        </p:nvSpPr>
        <p:spPr>
          <a:xfrm>
            <a:off x="6165622" y="1832429"/>
            <a:ext cx="5840642" cy="484776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1135E-DE32-B06C-54DA-AFBBCB654AF2}"/>
              </a:ext>
            </a:extLst>
          </p:cNvPr>
          <p:cNvSpPr txBox="1"/>
          <p:nvPr/>
        </p:nvSpPr>
        <p:spPr>
          <a:xfrm>
            <a:off x="616913" y="1829786"/>
            <a:ext cx="43020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Pixelify Sans" pitchFamily="2" charset="0"/>
              </a:rPr>
              <a:t>Parameterized birth/survival conditions</a:t>
            </a:r>
            <a:endParaRPr lang="ru-RU" sz="4000" dirty="0">
              <a:solidFill>
                <a:schemeClr val="bg2">
                  <a:lumMod val="50000"/>
                </a:schemeClr>
              </a:solidFill>
              <a:latin typeface="Pixelify Sans" pitchFamily="2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A562AEA-C26D-7BD3-3957-790E438BD7DA}"/>
              </a:ext>
            </a:extLst>
          </p:cNvPr>
          <p:cNvSpPr/>
          <p:nvPr/>
        </p:nvSpPr>
        <p:spPr>
          <a:xfrm>
            <a:off x="185736" y="3986391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7ABBC-BB2A-A2DB-4C45-53849F9C88F7}"/>
              </a:ext>
            </a:extLst>
          </p:cNvPr>
          <p:cNvSpPr txBox="1"/>
          <p:nvPr/>
        </p:nvSpPr>
        <p:spPr>
          <a:xfrm>
            <a:off x="616913" y="3986391"/>
            <a:ext cx="50277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Two modes: “creative” (fixed field) and “survival” (zone shrinking).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B5EF1C8-A623-390B-95D8-527466A3884A}"/>
              </a:ext>
            </a:extLst>
          </p:cNvPr>
          <p:cNvSpPr/>
          <p:nvPr/>
        </p:nvSpPr>
        <p:spPr>
          <a:xfrm>
            <a:off x="185736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EDACCA-6BB3-E6A5-310D-89757ED8CC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3" t="484" r="1041" b="2684"/>
          <a:stretch/>
        </p:blipFill>
        <p:spPr>
          <a:xfrm>
            <a:off x="6309347" y="2880616"/>
            <a:ext cx="2652172" cy="26528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F8CB96-B5C8-7B84-45EC-C5833E555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366" y="2891388"/>
            <a:ext cx="2652172" cy="2643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E29F-8292-A5B3-6F7D-CB48CB673C98}"/>
              </a:ext>
            </a:extLst>
          </p:cNvPr>
          <p:cNvSpPr txBox="1"/>
          <p:nvPr/>
        </p:nvSpPr>
        <p:spPr>
          <a:xfrm>
            <a:off x="9381620" y="5710910"/>
            <a:ext cx="299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Creative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8920CC-FAE0-97AE-128E-990491FD0678}"/>
              </a:ext>
            </a:extLst>
          </p:cNvPr>
          <p:cNvSpPr txBox="1"/>
          <p:nvPr/>
        </p:nvSpPr>
        <p:spPr>
          <a:xfrm>
            <a:off x="6500867" y="5710910"/>
            <a:ext cx="299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Survival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76A8E-E12B-3F94-845C-2F9BE290978A}"/>
              </a:ext>
            </a:extLst>
          </p:cNvPr>
          <p:cNvSpPr txBox="1"/>
          <p:nvPr/>
        </p:nvSpPr>
        <p:spPr>
          <a:xfrm>
            <a:off x="7391490" y="1966216"/>
            <a:ext cx="359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Game modes: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8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0A919-B806-B5CB-05F8-0D1BFB96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3F4615-D767-FB9C-6A15-8A4356A2BB1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72658B2-E71B-5F31-4FC6-3B73C80EBEFE}"/>
              </a:ext>
            </a:extLst>
          </p:cNvPr>
          <p:cNvSpPr/>
          <p:nvPr/>
        </p:nvSpPr>
        <p:spPr>
          <a:xfrm>
            <a:off x="185737" y="177800"/>
            <a:ext cx="11846605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1E4A6E9-75F6-A9F7-DCBF-1F2915978ACA}"/>
              </a:ext>
            </a:extLst>
          </p:cNvPr>
          <p:cNvSpPr/>
          <p:nvPr/>
        </p:nvSpPr>
        <p:spPr>
          <a:xfrm>
            <a:off x="185737" y="1832430"/>
            <a:ext cx="5794149" cy="197616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424E9-E70A-35A4-8C9D-D43FEEEEF9A7}"/>
              </a:ext>
            </a:extLst>
          </p:cNvPr>
          <p:cNvSpPr txBox="1"/>
          <p:nvPr/>
        </p:nvSpPr>
        <p:spPr>
          <a:xfrm>
            <a:off x="473188" y="324547"/>
            <a:ext cx="9991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Project extensions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5C87CBA-1519-2AF7-C826-2E9725E9B2A1}"/>
              </a:ext>
            </a:extLst>
          </p:cNvPr>
          <p:cNvSpPr/>
          <p:nvPr/>
        </p:nvSpPr>
        <p:spPr>
          <a:xfrm>
            <a:off x="6165622" y="1832429"/>
            <a:ext cx="5840642" cy="484776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6E0304-FB3E-D6D0-8BB8-310CD1026858}"/>
              </a:ext>
            </a:extLst>
          </p:cNvPr>
          <p:cNvSpPr/>
          <p:nvPr/>
        </p:nvSpPr>
        <p:spPr>
          <a:xfrm>
            <a:off x="185736" y="3808591"/>
            <a:ext cx="5794149" cy="287160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6570522-C103-8299-EAC6-95964CC84E1A}"/>
              </a:ext>
            </a:extLst>
          </p:cNvPr>
          <p:cNvSpPr/>
          <p:nvPr/>
        </p:nvSpPr>
        <p:spPr>
          <a:xfrm>
            <a:off x="185736" y="1832428"/>
            <a:ext cx="297691" cy="4847769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423B4B-918F-027F-4918-A80D7AFE92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3" t="484" r="1041" b="2684"/>
          <a:stretch/>
        </p:blipFill>
        <p:spPr>
          <a:xfrm>
            <a:off x="12476103" y="2880616"/>
            <a:ext cx="2652172" cy="26528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6D7EA1-9B41-263A-A453-320C95218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7736" y="2891097"/>
            <a:ext cx="2652172" cy="26438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CFEC8F-FE75-BC50-D237-C73F7E10D85D}"/>
              </a:ext>
            </a:extLst>
          </p:cNvPr>
          <p:cNvSpPr txBox="1"/>
          <p:nvPr/>
        </p:nvSpPr>
        <p:spPr>
          <a:xfrm>
            <a:off x="1012045" y="2454750"/>
            <a:ext cx="37954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Also added the ability to set one on of the 8 ready-made deferent patterns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4C5F16A-1CB5-99C8-7D9A-BF8DE884585E}"/>
              </a:ext>
            </a:extLst>
          </p:cNvPr>
          <p:cNvGrpSpPr/>
          <p:nvPr/>
        </p:nvGrpSpPr>
        <p:grpSpPr>
          <a:xfrm>
            <a:off x="0" y="-10979439"/>
            <a:ext cx="12192000" cy="10726275"/>
            <a:chOff x="0" y="-3849757"/>
            <a:chExt cx="12192000" cy="10726275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8495B124-7CCD-0F1F-EC62-1CCBEB7E344F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F55EF4-5D15-FFC9-70B9-B4C55A87CB07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HARDWARE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B78EFB4-6EB3-9323-9B77-77CAD5BFD1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196" r="10877"/>
          <a:stretch/>
        </p:blipFill>
        <p:spPr>
          <a:xfrm>
            <a:off x="9148828" y="2661592"/>
            <a:ext cx="1152946" cy="111183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9B8D25C-C988-CE2E-E688-EEF70BEDF9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844" r="6368"/>
          <a:stretch/>
        </p:blipFill>
        <p:spPr>
          <a:xfrm>
            <a:off x="10557919" y="2668256"/>
            <a:ext cx="1257355" cy="110516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AA31FE2-DFBE-61C3-05D8-D2FCFDA99F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6979" y="4817305"/>
            <a:ext cx="1148386" cy="1105167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1909049-1893-F6A8-20F3-153D4CC32E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5070" y="4817305"/>
            <a:ext cx="1219155" cy="110516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имвол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1088E10-2D28-CEC8-7C59-349311521F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2" t="12923" r="23159" b="26141"/>
          <a:stretch/>
        </p:blipFill>
        <p:spPr>
          <a:xfrm>
            <a:off x="6434297" y="2669127"/>
            <a:ext cx="1124909" cy="1104295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нимок экрана,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19A2BE7-CC2F-1322-19AF-89064CC1D0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2" t="8224" r="20127" b="11915"/>
          <a:stretch/>
        </p:blipFill>
        <p:spPr>
          <a:xfrm>
            <a:off x="7806683" y="2668256"/>
            <a:ext cx="1058042" cy="1105166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символ, пиксель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CA5283A-C245-3480-8F67-094839A36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21596" r="20054" b="7078"/>
          <a:stretch/>
        </p:blipFill>
        <p:spPr>
          <a:xfrm>
            <a:off x="10639546" y="4810642"/>
            <a:ext cx="1160814" cy="111183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символ, пиксель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4A9B58C-523E-83B7-1DED-CBE834D3DA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9" t="14859" r="26330" b="21888"/>
          <a:stretch/>
        </p:blipFill>
        <p:spPr>
          <a:xfrm>
            <a:off x="6451626" y="4811316"/>
            <a:ext cx="1148386" cy="111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95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6E6D1-CC8E-FA8D-C7A0-26610C20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5F32AC-F51C-33D6-CF05-04FEBCFD6B1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0C7A168-2075-74FF-DD88-839FEBAD04C8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6B51DD5-B12E-624C-79F7-6D83E0D798BF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5CAFA-9008-6671-3A18-5C99B970850A}"/>
              </a:ext>
            </a:extLst>
          </p:cNvPr>
          <p:cNvSpPr txBox="1"/>
          <p:nvPr/>
        </p:nvSpPr>
        <p:spPr>
          <a:xfrm>
            <a:off x="473188" y="32454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5F3778E-2F35-724D-8AE7-1DE3592C4830}"/>
              </a:ext>
            </a:extLst>
          </p:cNvPr>
          <p:cNvSpPr/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82F3966-A09C-20B4-0019-EB36B9F80A3C}"/>
              </a:ext>
            </a:extLst>
          </p:cNvPr>
          <p:cNvSpPr/>
          <p:nvPr/>
        </p:nvSpPr>
        <p:spPr>
          <a:xfrm>
            <a:off x="-934819" y="7494845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03450DC-6AD0-8A0D-EA06-9238068204C1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A4C777-54D7-9CAD-66BC-88598DDE9C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590A4B-E7D4-938D-C5A5-DD36B683BF0E}"/>
              </a:ext>
            </a:extLst>
          </p:cNvPr>
          <p:cNvSpPr txBox="1"/>
          <p:nvPr/>
        </p:nvSpPr>
        <p:spPr>
          <a:xfrm>
            <a:off x="6529227" y="751390"/>
            <a:ext cx="46798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Main s</a:t>
            </a:r>
            <a:r>
              <a:rPr lang="ru-RU" sz="4400" dirty="0">
                <a:solidFill>
                  <a:srgbClr val="FD6BE8"/>
                </a:solidFill>
                <a:latin typeface="Pixelify Sans" pitchFamily="2" charset="0"/>
              </a:rPr>
              <a:t>с</a:t>
            </a:r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heme</a:t>
            </a:r>
            <a:endParaRPr lang="ru-RU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30F49-1F30-FB96-3F33-D8AA7F521C52}"/>
              </a:ext>
            </a:extLst>
          </p:cNvPr>
          <p:cNvSpPr txBox="1"/>
          <p:nvPr/>
        </p:nvSpPr>
        <p:spPr>
          <a:xfrm>
            <a:off x="378076" y="2013950"/>
            <a:ext cx="41024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combines all parts of the circuit together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C6F7815-F6D2-38EE-A39C-6CBDDBD03127}"/>
              </a:ext>
            </a:extLst>
          </p:cNvPr>
          <p:cNvGrpSpPr/>
          <p:nvPr/>
        </p:nvGrpSpPr>
        <p:grpSpPr>
          <a:xfrm>
            <a:off x="0" y="-3849757"/>
            <a:ext cx="12192000" cy="10726275"/>
            <a:chOff x="0" y="-3849757"/>
            <a:chExt cx="12192000" cy="10726275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F349A432-ACD6-1B16-EB00-38A662FCD01A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3A4B24-F6A2-89D2-B213-E2F9439E5198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HARDWARE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9979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C89E5-DD2C-9E19-E223-193A79E4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0802FD2-35E3-B02F-30D7-C75ED0C55BCA}"/>
              </a:ext>
            </a:extLst>
          </p:cNvPr>
          <p:cNvSpPr/>
          <p:nvPr/>
        </p:nvSpPr>
        <p:spPr>
          <a:xfrm>
            <a:off x="5108823" y="2657139"/>
            <a:ext cx="957262" cy="75927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07CF9B-A9D9-8E16-F20F-6F2A1286808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6840CC0-9DD2-C98B-89CB-389A4D19580C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3DFCFFF-983C-276A-4532-8FA028B87AAD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59759-4CBF-B163-7AC5-8AE526B240DD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C812E50-B9F8-DA8A-2DD2-E6B763A7B6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E625A5-7814-D311-9BAA-ABCC280D6D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FBA92-5B18-592B-CC19-EE8E5CBF39F9}"/>
              </a:ext>
            </a:extLst>
          </p:cNvPr>
          <p:cNvSpPr txBox="1"/>
          <p:nvPr/>
        </p:nvSpPr>
        <p:spPr>
          <a:xfrm>
            <a:off x="308396" y="1944026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Change X cell in the current Y row to the opposite and sends the result row to write buffer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AF8C33D6-6791-B1CC-9F17-21D4CEFF6CF3}"/>
              </a:ext>
            </a:extLst>
          </p:cNvPr>
          <p:cNvSpPr/>
          <p:nvPr/>
        </p:nvSpPr>
        <p:spPr>
          <a:xfrm>
            <a:off x="7174193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F6AC4E-F9F0-A0D7-4419-339ED508857F}"/>
              </a:ext>
            </a:extLst>
          </p:cNvPr>
          <p:cNvSpPr/>
          <p:nvPr/>
        </p:nvSpPr>
        <p:spPr>
          <a:xfrm>
            <a:off x="7121565" y="2657139"/>
            <a:ext cx="779927" cy="3609189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13D422-6B10-8AE9-9811-76231FE23315}"/>
              </a:ext>
            </a:extLst>
          </p:cNvPr>
          <p:cNvSpPr txBox="1"/>
          <p:nvPr/>
        </p:nvSpPr>
        <p:spPr>
          <a:xfrm>
            <a:off x="6015318" y="785361"/>
            <a:ext cx="3225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converter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B29A7D3-7627-EAF1-53D0-6F038CAC660B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431A5A7-1C9C-C6FA-4BBE-869388247954}"/>
              </a:ext>
            </a:extLst>
          </p:cNvPr>
          <p:cNvSpPr/>
          <p:nvPr/>
        </p:nvSpPr>
        <p:spPr>
          <a:xfrm>
            <a:off x="-934819" y="7494845"/>
            <a:ext cx="5794149" cy="269380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20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35264-130A-F48D-87C0-D5212A17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76979CA-664F-97C2-B35B-9CB67C4AE686}"/>
              </a:ext>
            </a:extLst>
          </p:cNvPr>
          <p:cNvSpPr/>
          <p:nvPr/>
        </p:nvSpPr>
        <p:spPr>
          <a:xfrm>
            <a:off x="5108823" y="2657139"/>
            <a:ext cx="957262" cy="75927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D91FE6-9666-BAD7-F148-5E524A12FE0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549A56A-EE48-1206-36C9-3539F1964690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DEB9F6E-9303-CCCE-1207-AEEB39303F1D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BD9CE-1C1E-28D1-F4DD-C2579159D534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0A4A848-DE9F-E504-D0F2-9C137B738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BF1D5-97F5-04FA-5709-CBFEDDD7266F}"/>
              </a:ext>
            </a:extLst>
          </p:cNvPr>
          <p:cNvSpPr txBox="1"/>
          <p:nvPr/>
        </p:nvSpPr>
        <p:spPr>
          <a:xfrm>
            <a:off x="308396" y="1944026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Change X cell in the current Y row to the opposite and sends the result row to write buffer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45D6C9-809B-8A91-58B1-B67E62C639EE}"/>
              </a:ext>
            </a:extLst>
          </p:cNvPr>
          <p:cNvSpPr txBox="1"/>
          <p:nvPr/>
        </p:nvSpPr>
        <p:spPr>
          <a:xfrm>
            <a:off x="6015318" y="785361"/>
            <a:ext cx="3225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converter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52DBC7C-0864-E8B0-C6B8-6D83CEFD8524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B7DECF-4E40-EC0A-2734-F1646732B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422" y="1832429"/>
            <a:ext cx="5899630" cy="464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37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6EE29-51D3-F07F-5DA2-0AFA79B6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8798B550-DECE-4689-C06E-99149F7BB3F8}"/>
              </a:ext>
            </a:extLst>
          </p:cNvPr>
          <p:cNvSpPr/>
          <p:nvPr/>
        </p:nvSpPr>
        <p:spPr>
          <a:xfrm>
            <a:off x="5108823" y="2657139"/>
            <a:ext cx="957262" cy="75927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0C195C-7B4A-D5B8-E8E9-E045C26BA86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3AD8A11-B4DC-9B9F-3A53-50087ABE2E00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EB342E0-F6BB-69A1-3EDC-06701DB79208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3AA49-9CEA-275B-C781-F64DE8479F67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321ABA9-7237-C636-EE0A-F5D2D3782D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154FE8-530E-D684-6884-46DE9439C8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FB4734-8812-3802-7FE3-1888C0E51944}"/>
              </a:ext>
            </a:extLst>
          </p:cNvPr>
          <p:cNvSpPr txBox="1"/>
          <p:nvPr/>
        </p:nvSpPr>
        <p:spPr>
          <a:xfrm>
            <a:off x="308396" y="1944026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Change X cell in the current Y row to the opposite and sends the result row to write buffer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AB662479-C984-95E4-C3D9-812CD0E085F1}"/>
              </a:ext>
            </a:extLst>
          </p:cNvPr>
          <p:cNvSpPr/>
          <p:nvPr/>
        </p:nvSpPr>
        <p:spPr>
          <a:xfrm>
            <a:off x="7174193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752F643-FF5C-9802-3764-953C203C8668}"/>
              </a:ext>
            </a:extLst>
          </p:cNvPr>
          <p:cNvSpPr/>
          <p:nvPr/>
        </p:nvSpPr>
        <p:spPr>
          <a:xfrm>
            <a:off x="7121565" y="2657139"/>
            <a:ext cx="779927" cy="3609189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65DC80-7E01-F76B-BDD1-B082D88E86A8}"/>
              </a:ext>
            </a:extLst>
          </p:cNvPr>
          <p:cNvSpPr txBox="1"/>
          <p:nvPr/>
        </p:nvSpPr>
        <p:spPr>
          <a:xfrm>
            <a:off x="6015318" y="785361"/>
            <a:ext cx="3225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converter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D2B268F-6225-22E5-3C8F-CFD774C5FD4B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402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9FD49-8214-06C1-DDCE-6E3C58F6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8547BD-E127-D3F0-712E-63508DC11C6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5A8F6E5-C0E5-E2ED-65AE-BD18CF328097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52D27B8-CB75-06D1-02F3-0B13DB38A995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80FA1-A912-44B5-6026-B06A2165565A}"/>
              </a:ext>
            </a:extLst>
          </p:cNvPr>
          <p:cNvSpPr txBox="1"/>
          <p:nvPr/>
        </p:nvSpPr>
        <p:spPr>
          <a:xfrm>
            <a:off x="473188" y="32454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3282953-17A3-0B02-BA24-ACFC4945C046}"/>
              </a:ext>
            </a:extLst>
          </p:cNvPr>
          <p:cNvSpPr/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317C272-022D-8427-529F-9CBE7D11CE55}"/>
              </a:ext>
            </a:extLst>
          </p:cNvPr>
          <p:cNvSpPr/>
          <p:nvPr/>
        </p:nvSpPr>
        <p:spPr>
          <a:xfrm>
            <a:off x="5023216" y="2973826"/>
            <a:ext cx="1019437" cy="455174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4401F4-764B-7D2E-1E5C-855BA836A2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F8CFB9-330D-D0A5-A753-158124E7E5C2}"/>
              </a:ext>
            </a:extLst>
          </p:cNvPr>
          <p:cNvSpPr txBox="1"/>
          <p:nvPr/>
        </p:nvSpPr>
        <p:spPr>
          <a:xfrm>
            <a:off x="6213853" y="145090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AAC9A-BCA3-93A9-09BA-3125E10EE507}"/>
              </a:ext>
            </a:extLst>
          </p:cNvPr>
          <p:cNvSpPr txBox="1"/>
          <p:nvPr/>
        </p:nvSpPr>
        <p:spPr>
          <a:xfrm>
            <a:off x="308396" y="1944026"/>
            <a:ext cx="46283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716E7E57-ADF8-6B1C-1B72-4F6E9B866879}"/>
              </a:ext>
            </a:extLst>
          </p:cNvPr>
          <p:cNvSpPr/>
          <p:nvPr/>
        </p:nvSpPr>
        <p:spPr>
          <a:xfrm>
            <a:off x="6474946" y="1715083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2B71F2D-ADFB-A111-35DE-305759750D18}"/>
              </a:ext>
            </a:extLst>
          </p:cNvPr>
          <p:cNvSpPr/>
          <p:nvPr/>
        </p:nvSpPr>
        <p:spPr>
          <a:xfrm>
            <a:off x="6390043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EC21CE0-A458-18A7-712A-F40AE650A461}"/>
              </a:ext>
            </a:extLst>
          </p:cNvPr>
          <p:cNvSpPr/>
          <p:nvPr/>
        </p:nvSpPr>
        <p:spPr>
          <a:xfrm>
            <a:off x="7650767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0999CB96-5029-6626-AAB6-C66CA1BD1F2F}"/>
              </a:ext>
            </a:extLst>
          </p:cNvPr>
          <p:cNvSpPr/>
          <p:nvPr/>
        </p:nvSpPr>
        <p:spPr>
          <a:xfrm>
            <a:off x="7767656" y="1716871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3CD87-FCFC-FA3F-64BC-F048DD9C1EC4}"/>
              </a:ext>
            </a:extLst>
          </p:cNvPr>
          <p:cNvSpPr txBox="1"/>
          <p:nvPr/>
        </p:nvSpPr>
        <p:spPr>
          <a:xfrm>
            <a:off x="5299902" y="885188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39F30-48AA-3546-BFDA-18B1E4AEC753}"/>
              </a:ext>
            </a:extLst>
          </p:cNvPr>
          <p:cNvSpPr txBox="1"/>
          <p:nvPr/>
        </p:nvSpPr>
        <p:spPr>
          <a:xfrm>
            <a:off x="7856366" y="894390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3058407-3BB0-D73A-B46A-7EB0E2B39279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833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F1350-B20D-FD32-F2D8-F89F7AA5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143D6E-DC83-704E-00C7-3B56881B535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7575B4BF-1255-3FF4-9DAE-EA316F985F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738" y="177800"/>
            <a:ext cx="11830488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756F946-B7F3-9CF2-DB12-B01A5FF55D0F}"/>
              </a:ext>
            </a:extLst>
          </p:cNvPr>
          <p:cNvSpPr/>
          <p:nvPr/>
        </p:nvSpPr>
        <p:spPr>
          <a:xfrm>
            <a:off x="-4065928" y="-2433286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8643348-53ED-A445-2FD9-D52A6CE8636E}"/>
              </a:ext>
            </a:extLst>
          </p:cNvPr>
          <p:cNvSpPr/>
          <p:nvPr/>
        </p:nvSpPr>
        <p:spPr>
          <a:xfrm>
            <a:off x="-4872646" y="6858000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DB267-3D0E-8FD7-1891-F9C9ABADF409}"/>
              </a:ext>
            </a:extLst>
          </p:cNvPr>
          <p:cNvSpPr txBox="1"/>
          <p:nvPr/>
        </p:nvSpPr>
        <p:spPr>
          <a:xfrm>
            <a:off x="-3778478" y="-2286539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F580067-4FBB-376C-65C1-35A46BFF3A58}"/>
              </a:ext>
            </a:extLst>
          </p:cNvPr>
          <p:cNvSpPr/>
          <p:nvPr/>
        </p:nvSpPr>
        <p:spPr>
          <a:xfrm>
            <a:off x="12866921" y="177800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2D0689-E535-40FB-031E-E16310902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13028574" y="2094419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F86737-E8A0-7504-DC18-41AC2FD3E099}"/>
              </a:ext>
            </a:extLst>
          </p:cNvPr>
          <p:cNvSpPr txBox="1"/>
          <p:nvPr/>
        </p:nvSpPr>
        <p:spPr>
          <a:xfrm>
            <a:off x="14080991" y="145089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870D4-B5FA-608C-0C3F-7F94E07D74BB}"/>
              </a:ext>
            </a:extLst>
          </p:cNvPr>
          <p:cNvSpPr txBox="1">
            <a:spLocks/>
          </p:cNvSpPr>
          <p:nvPr/>
        </p:nvSpPr>
        <p:spPr>
          <a:xfrm>
            <a:off x="-4749987" y="6969597"/>
            <a:ext cx="4460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420B3DFA-8C53-BA93-4EF7-911488134B3E}"/>
              </a:ext>
            </a:extLst>
          </p:cNvPr>
          <p:cNvSpPr/>
          <p:nvPr/>
        </p:nvSpPr>
        <p:spPr>
          <a:xfrm>
            <a:off x="14342084" y="1715082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2E41086-B981-9AE3-DC60-316AB2A0D6EC}"/>
              </a:ext>
            </a:extLst>
          </p:cNvPr>
          <p:cNvSpPr/>
          <p:nvPr/>
        </p:nvSpPr>
        <p:spPr>
          <a:xfrm>
            <a:off x="14257181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1FE049B-79F5-DF65-BEB0-661771E8D84C}"/>
              </a:ext>
            </a:extLst>
          </p:cNvPr>
          <p:cNvSpPr/>
          <p:nvPr/>
        </p:nvSpPr>
        <p:spPr>
          <a:xfrm>
            <a:off x="15517905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69EA32F7-0C03-9449-2C6C-A1A2A9A963B7}"/>
              </a:ext>
            </a:extLst>
          </p:cNvPr>
          <p:cNvSpPr/>
          <p:nvPr/>
        </p:nvSpPr>
        <p:spPr>
          <a:xfrm>
            <a:off x="15634794" y="1716870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13D07-82C2-F6B6-F73E-092F07D964B0}"/>
              </a:ext>
            </a:extLst>
          </p:cNvPr>
          <p:cNvSpPr txBox="1"/>
          <p:nvPr/>
        </p:nvSpPr>
        <p:spPr>
          <a:xfrm>
            <a:off x="13167040" y="885187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9A032-E1B8-3CBF-0E5B-156B17BF24D3}"/>
              </a:ext>
            </a:extLst>
          </p:cNvPr>
          <p:cNvSpPr txBox="1"/>
          <p:nvPr/>
        </p:nvSpPr>
        <p:spPr>
          <a:xfrm>
            <a:off x="15723504" y="894389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F24E3-0B63-C4B4-C55A-EA3036DD5CDA}"/>
              </a:ext>
            </a:extLst>
          </p:cNvPr>
          <p:cNvSpPr txBox="1"/>
          <p:nvPr/>
        </p:nvSpPr>
        <p:spPr>
          <a:xfrm>
            <a:off x="400510" y="393093"/>
            <a:ext cx="396680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Contains 32 registers for recording input row, also masks for shrinking the field horizontally and tunnels with OR gate for shrinking</a:t>
            </a:r>
            <a:r>
              <a:rPr lang="ru-RU" sz="36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vertically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AD9471EC-31B6-D458-07E1-1074BD68FBAC}"/>
              </a:ext>
            </a:extLst>
          </p:cNvPr>
          <p:cNvCxnSpPr/>
          <p:nvPr/>
        </p:nvCxnSpPr>
        <p:spPr>
          <a:xfrm>
            <a:off x="5602310" y="1089933"/>
            <a:ext cx="0" cy="2008973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47947F6-15BD-759B-E240-3A4210A38E64}"/>
              </a:ext>
            </a:extLst>
          </p:cNvPr>
          <p:cNvSpPr txBox="1"/>
          <p:nvPr/>
        </p:nvSpPr>
        <p:spPr>
          <a:xfrm>
            <a:off x="5443116" y="529810"/>
            <a:ext cx="322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1200" dirty="0">
                <a:solidFill>
                  <a:srgbClr val="FD6BE8"/>
                </a:solidFill>
                <a:effectLst/>
                <a:latin typeface="Pixelify Sans" pitchFamily="2" charset="0"/>
                <a:ea typeface="+mn-ea"/>
                <a:cs typeface="+mn-cs"/>
              </a:rPr>
              <a:t>horizontally</a:t>
            </a:r>
            <a:endParaRPr lang="en-US" sz="66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477D62F2-2BE7-AD4F-FBED-A0203F491E99}"/>
              </a:ext>
            </a:extLst>
          </p:cNvPr>
          <p:cNvCxnSpPr>
            <a:cxnSpLocks/>
          </p:cNvCxnSpPr>
          <p:nvPr/>
        </p:nvCxnSpPr>
        <p:spPr>
          <a:xfrm>
            <a:off x="6360570" y="1944394"/>
            <a:ext cx="0" cy="1154512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FEF294E-78A5-3C7E-6B1D-C869C1859198}"/>
              </a:ext>
            </a:extLst>
          </p:cNvPr>
          <p:cNvSpPr txBox="1"/>
          <p:nvPr/>
        </p:nvSpPr>
        <p:spPr>
          <a:xfrm>
            <a:off x="6187870" y="1284754"/>
            <a:ext cx="322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vertically</a:t>
            </a:r>
            <a:endParaRPr lang="en-US" sz="66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D8C6D3-8AB8-55DD-F622-2829483F1180}"/>
              </a:ext>
            </a:extLst>
          </p:cNvPr>
          <p:cNvSpPr txBox="1"/>
          <p:nvPr/>
        </p:nvSpPr>
        <p:spPr>
          <a:xfrm>
            <a:off x="7247010" y="2086053"/>
            <a:ext cx="3225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input row</a:t>
            </a:r>
            <a:endParaRPr lang="en-US" sz="66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8E0E2F-5FFB-DE30-F79B-597CF3A1944D}"/>
              </a:ext>
            </a:extLst>
          </p:cNvPr>
          <p:cNvSpPr txBox="1"/>
          <p:nvPr/>
        </p:nvSpPr>
        <p:spPr>
          <a:xfrm>
            <a:off x="9606207" y="246975"/>
            <a:ext cx="22394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Write</a:t>
            </a:r>
            <a:endParaRPr lang="ru-RU" sz="4400" dirty="0">
              <a:solidFill>
                <a:srgbClr val="21FFD5"/>
              </a:solidFill>
              <a:latin typeface="Pixelify Sans" pitchFamily="2" charset="0"/>
            </a:endParaRPr>
          </a:p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buffer</a:t>
            </a:r>
          </a:p>
        </p:txBody>
      </p:sp>
      <p:pic>
        <p:nvPicPr>
          <p:cNvPr id="10" name="Рисунок 9" descr="Изображение выглядит как текст, диаграмма, число, Пл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DABADFE-1013-E4C2-AC04-0395151EC7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"/>
          <a:stretch/>
        </p:blipFill>
        <p:spPr>
          <a:xfrm>
            <a:off x="6852581" y="3209250"/>
            <a:ext cx="4971323" cy="328801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диаграмма, зарисо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EA88573-7B93-5BCA-8A81-B0C4A799AB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" r="14941" b="5773"/>
          <a:stretch/>
        </p:blipFill>
        <p:spPr>
          <a:xfrm>
            <a:off x="4434410" y="3207621"/>
            <a:ext cx="1803867" cy="328801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14B3BB1-C8D3-795D-6A56-C77F178C79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660" t="-1" b="26106"/>
          <a:stretch/>
        </p:blipFill>
        <p:spPr>
          <a:xfrm>
            <a:off x="6231415" y="3209249"/>
            <a:ext cx="631642" cy="3288014"/>
          </a:xfrm>
          <a:prstGeom prst="rect">
            <a:avLst/>
          </a:prstGeom>
        </p:spPr>
      </p:pic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9EA80827-DAFE-40C2-9AE3-6CCA3A319340}"/>
              </a:ext>
            </a:extLst>
          </p:cNvPr>
          <p:cNvCxnSpPr>
            <a:cxnSpLocks/>
          </p:cNvCxnSpPr>
          <p:nvPr/>
        </p:nvCxnSpPr>
        <p:spPr>
          <a:xfrm>
            <a:off x="7403588" y="2700338"/>
            <a:ext cx="0" cy="812906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175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DF533-75B1-92FC-CD85-FCBD3DF0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74EC37-1AA1-8B70-8EE3-DDE5F22C64C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24E8C22-54B7-3F39-CEEE-B21F3C961CE0}"/>
              </a:ext>
            </a:extLst>
          </p:cNvPr>
          <p:cNvSpPr>
            <a:spLocks/>
          </p:cNvSpPr>
          <p:nvPr/>
        </p:nvSpPr>
        <p:spPr>
          <a:xfrm>
            <a:off x="185738" y="177800"/>
            <a:ext cx="11830488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81F51E1-8764-75F1-C2EB-943972D3CC8F}"/>
              </a:ext>
            </a:extLst>
          </p:cNvPr>
          <p:cNvSpPr/>
          <p:nvPr/>
        </p:nvSpPr>
        <p:spPr>
          <a:xfrm>
            <a:off x="-4065928" y="-2433286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ADFD3B6-E722-1171-8CD3-03F1E6989AF3}"/>
              </a:ext>
            </a:extLst>
          </p:cNvPr>
          <p:cNvSpPr/>
          <p:nvPr/>
        </p:nvSpPr>
        <p:spPr>
          <a:xfrm>
            <a:off x="-4872646" y="6858000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BDEE6-4AEF-E543-BB54-BDAA3580B75F}"/>
              </a:ext>
            </a:extLst>
          </p:cNvPr>
          <p:cNvSpPr txBox="1"/>
          <p:nvPr/>
        </p:nvSpPr>
        <p:spPr>
          <a:xfrm>
            <a:off x="-3778478" y="-2286539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0CA0B61-3A13-05CB-1D29-AF3EED907948}"/>
              </a:ext>
            </a:extLst>
          </p:cNvPr>
          <p:cNvSpPr/>
          <p:nvPr/>
        </p:nvSpPr>
        <p:spPr>
          <a:xfrm>
            <a:off x="12866921" y="177800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7C9DCE-0EE2-EF26-885A-C93C275ECE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13028574" y="2094419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23F0BE-C036-3137-96CD-860C7D534708}"/>
              </a:ext>
            </a:extLst>
          </p:cNvPr>
          <p:cNvSpPr txBox="1"/>
          <p:nvPr/>
        </p:nvSpPr>
        <p:spPr>
          <a:xfrm>
            <a:off x="14080991" y="145089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27494-DA46-DF22-C9B8-B269D20F581C}"/>
              </a:ext>
            </a:extLst>
          </p:cNvPr>
          <p:cNvSpPr txBox="1">
            <a:spLocks/>
          </p:cNvSpPr>
          <p:nvPr/>
        </p:nvSpPr>
        <p:spPr>
          <a:xfrm>
            <a:off x="-4749987" y="6969597"/>
            <a:ext cx="45056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93D1D60C-265E-CAC4-569A-94E636AD986C}"/>
              </a:ext>
            </a:extLst>
          </p:cNvPr>
          <p:cNvSpPr/>
          <p:nvPr/>
        </p:nvSpPr>
        <p:spPr>
          <a:xfrm>
            <a:off x="14342084" y="1715082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8F4437C-62B3-FF54-FA92-718CA042B44D}"/>
              </a:ext>
            </a:extLst>
          </p:cNvPr>
          <p:cNvSpPr/>
          <p:nvPr/>
        </p:nvSpPr>
        <p:spPr>
          <a:xfrm>
            <a:off x="14257181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05E2165-40EC-0609-1ECE-ADD67B7C4541}"/>
              </a:ext>
            </a:extLst>
          </p:cNvPr>
          <p:cNvSpPr/>
          <p:nvPr/>
        </p:nvSpPr>
        <p:spPr>
          <a:xfrm>
            <a:off x="15517905" y="2630790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322B65BE-8AC6-6923-A911-0292E4ED718A}"/>
              </a:ext>
            </a:extLst>
          </p:cNvPr>
          <p:cNvSpPr/>
          <p:nvPr/>
        </p:nvSpPr>
        <p:spPr>
          <a:xfrm>
            <a:off x="15634794" y="1716870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1E7E3-B2C3-5EE5-7669-D7ECDB631DC3}"/>
              </a:ext>
            </a:extLst>
          </p:cNvPr>
          <p:cNvSpPr txBox="1"/>
          <p:nvPr/>
        </p:nvSpPr>
        <p:spPr>
          <a:xfrm>
            <a:off x="13167040" y="885187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239A5-5E82-F546-FEBF-886411E925DB}"/>
              </a:ext>
            </a:extLst>
          </p:cNvPr>
          <p:cNvSpPr txBox="1"/>
          <p:nvPr/>
        </p:nvSpPr>
        <p:spPr>
          <a:xfrm>
            <a:off x="15723504" y="894389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270473-AC8E-04A8-3FAD-C26CE9DD8694}"/>
              </a:ext>
            </a:extLst>
          </p:cNvPr>
          <p:cNvSpPr txBox="1"/>
          <p:nvPr/>
        </p:nvSpPr>
        <p:spPr>
          <a:xfrm>
            <a:off x="562381" y="420392"/>
            <a:ext cx="39668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Just contains 32 registers for recording new state of field from write buffer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3B6E3C-9612-929E-2AB6-6934DAC2E9F6}"/>
              </a:ext>
            </a:extLst>
          </p:cNvPr>
          <p:cNvSpPr txBox="1"/>
          <p:nvPr/>
        </p:nvSpPr>
        <p:spPr>
          <a:xfrm>
            <a:off x="9657840" y="498509"/>
            <a:ext cx="22394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Fixed</a:t>
            </a:r>
            <a:endParaRPr lang="ru-RU" sz="4400" dirty="0">
              <a:solidFill>
                <a:srgbClr val="21FFD5"/>
              </a:solidFill>
              <a:latin typeface="Pixelify Sans" pitchFamily="2" charset="0"/>
            </a:endParaRPr>
          </a:p>
          <a:p>
            <a:pPr algn="r"/>
            <a:r>
              <a:rPr lang="en-US" sz="4400" dirty="0">
                <a:solidFill>
                  <a:srgbClr val="21FFD5"/>
                </a:solidFill>
                <a:latin typeface="Pixelify Sans" pitchFamily="2" charset="0"/>
              </a:rPr>
              <a:t>buffer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80274C1-F937-D9D2-7F73-C90A01DF2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636" y="420392"/>
            <a:ext cx="3957403" cy="601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34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E5766-04C7-BDD4-3E0B-59C52200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768B816-E88B-E316-D2E6-FE4887483A8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81491FB-D663-6EB8-5D11-0CC1DAB4AFB0}"/>
              </a:ext>
            </a:extLst>
          </p:cNvPr>
          <p:cNvSpPr/>
          <p:nvPr/>
        </p:nvSpPr>
        <p:spPr>
          <a:xfrm>
            <a:off x="5621558" y="2705860"/>
            <a:ext cx="1090815" cy="99110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3430348-CC99-CA2D-0B39-D75B229B659F}"/>
              </a:ext>
            </a:extLst>
          </p:cNvPr>
          <p:cNvSpPr>
            <a:spLocks/>
          </p:cNvSpPr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DA86A23-18EF-E16E-3499-A009CB7291AA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9C1F8-4CAB-A5BB-2325-AAB7D9E6CD76}"/>
              </a:ext>
            </a:extLst>
          </p:cNvPr>
          <p:cNvSpPr txBox="1"/>
          <p:nvPr/>
        </p:nvSpPr>
        <p:spPr>
          <a:xfrm>
            <a:off x="473188" y="32454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E7A5911-087B-8E01-F495-391761C11637}"/>
              </a:ext>
            </a:extLst>
          </p:cNvPr>
          <p:cNvSpPr/>
          <p:nvPr/>
        </p:nvSpPr>
        <p:spPr>
          <a:xfrm>
            <a:off x="4999781" y="176254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FB6DA5-A115-2A06-D2A0-8A21B29C4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4" y="2111331"/>
            <a:ext cx="6683174" cy="44254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9AFD6A-10F9-278C-32E3-CE27D185CA0F}"/>
              </a:ext>
            </a:extLst>
          </p:cNvPr>
          <p:cNvSpPr txBox="1"/>
          <p:nvPr/>
        </p:nvSpPr>
        <p:spPr>
          <a:xfrm>
            <a:off x="6213853" y="145090"/>
            <a:ext cx="247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buffers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A9B96-828D-7550-6179-1B9FFCD8F8E3}"/>
              </a:ext>
            </a:extLst>
          </p:cNvPr>
          <p:cNvSpPr txBox="1"/>
          <p:nvPr/>
        </p:nvSpPr>
        <p:spPr>
          <a:xfrm>
            <a:off x="308396" y="1944026"/>
            <a:ext cx="46283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There are two field states. one can be edited in the Write buffer. The other is static in the Fixed buffer.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A11B8D32-EA26-7CA4-4209-B126559DAD22}"/>
              </a:ext>
            </a:extLst>
          </p:cNvPr>
          <p:cNvSpPr/>
          <p:nvPr/>
        </p:nvSpPr>
        <p:spPr>
          <a:xfrm>
            <a:off x="6474946" y="1715083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D7F3A27-943E-B232-A127-9629DE9E40A2}"/>
              </a:ext>
            </a:extLst>
          </p:cNvPr>
          <p:cNvSpPr/>
          <p:nvPr/>
        </p:nvSpPr>
        <p:spPr>
          <a:xfrm>
            <a:off x="6390043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EEE96AA-5D48-116A-A3DF-124CC4023CAB}"/>
              </a:ext>
            </a:extLst>
          </p:cNvPr>
          <p:cNvSpPr/>
          <p:nvPr/>
        </p:nvSpPr>
        <p:spPr>
          <a:xfrm>
            <a:off x="7650767" y="2630791"/>
            <a:ext cx="925158" cy="363553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B16EBEC3-72E3-3FB5-BB74-BA475678BFE7}"/>
              </a:ext>
            </a:extLst>
          </p:cNvPr>
          <p:cNvSpPr/>
          <p:nvPr/>
        </p:nvSpPr>
        <p:spPr>
          <a:xfrm>
            <a:off x="7767656" y="1716871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A1F59-8CE3-EED5-856F-3B6C08BBC242}"/>
              </a:ext>
            </a:extLst>
          </p:cNvPr>
          <p:cNvSpPr txBox="1"/>
          <p:nvPr/>
        </p:nvSpPr>
        <p:spPr>
          <a:xfrm>
            <a:off x="5299902" y="885188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Write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BA66C-4468-20EE-6109-B5C0AD34B754}"/>
              </a:ext>
            </a:extLst>
          </p:cNvPr>
          <p:cNvSpPr txBox="1"/>
          <p:nvPr/>
        </p:nvSpPr>
        <p:spPr>
          <a:xfrm>
            <a:off x="7856366" y="894390"/>
            <a:ext cx="19121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Fixed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C8F1625-12E0-EA3D-3618-DB01C2642ED2}"/>
              </a:ext>
            </a:extLst>
          </p:cNvPr>
          <p:cNvSpPr/>
          <p:nvPr/>
        </p:nvSpPr>
        <p:spPr>
          <a:xfrm>
            <a:off x="-1083664" y="3986391"/>
            <a:ext cx="297691" cy="2693806"/>
          </a:xfrm>
          <a:prstGeom prst="rect">
            <a:avLst/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39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C6AF4-AC10-899C-2A33-54FD862DD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C4F458D-3C8B-9CB7-BD32-60D5136931F9}"/>
              </a:ext>
            </a:extLst>
          </p:cNvPr>
          <p:cNvSpPr>
            <a:spLocks/>
          </p:cNvSpPr>
          <p:nvPr/>
        </p:nvSpPr>
        <p:spPr>
          <a:xfrm>
            <a:off x="5269120" y="2728874"/>
            <a:ext cx="2088821" cy="140025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870559-03F3-F6CD-E5E6-30A252E6815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58B0B7C-9809-6DAE-BB3F-36C64CD49A86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E3CC3A0-8FA9-FB8C-8E84-81FDD162E215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53C63-C211-8D0E-6462-75672E815BA7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A330E37B-97EE-113C-6714-ECBC22B38CAA}"/>
              </a:ext>
            </a:extLst>
          </p:cNvPr>
          <p:cNvSpPr>
            <a:spLocks/>
          </p:cNvSpPr>
          <p:nvPr/>
        </p:nvSpPr>
        <p:spPr>
          <a:xfrm>
            <a:off x="5263344" y="2868246"/>
            <a:ext cx="1029554" cy="834205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594E711-2F84-1890-98C0-FBF620F016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954D36-9CC5-4E0F-AA87-C1C2B6D7AE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8C84E2DC-9DC4-5D69-635C-F0749DF3AEC1}"/>
              </a:ext>
            </a:extLst>
          </p:cNvPr>
          <p:cNvSpPr/>
          <p:nvPr/>
        </p:nvSpPr>
        <p:spPr>
          <a:xfrm>
            <a:off x="8427459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E84B85-75DE-506D-E40B-38B1B89056EB}"/>
              </a:ext>
            </a:extLst>
          </p:cNvPr>
          <p:cNvSpPr/>
          <p:nvPr/>
        </p:nvSpPr>
        <p:spPr>
          <a:xfrm>
            <a:off x="8278012" y="2641002"/>
            <a:ext cx="1070383" cy="375979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682BDB-FC5F-BC0D-1620-2B6430C6ED2B}"/>
              </a:ext>
            </a:extLst>
          </p:cNvPr>
          <p:cNvSpPr txBox="1"/>
          <p:nvPr/>
        </p:nvSpPr>
        <p:spPr>
          <a:xfrm>
            <a:off x="6650018" y="826528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neighbor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11CDB-5790-A5C4-F81C-A2CDD2E74908}"/>
              </a:ext>
            </a:extLst>
          </p:cNvPr>
          <p:cNvSpPr txBox="1"/>
          <p:nvPr/>
        </p:nvSpPr>
        <p:spPr>
          <a:xfrm>
            <a:off x="221011" y="1916546"/>
            <a:ext cx="45177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It gives the number of neighbors, the cell state and the flag that the row is completely empty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38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4DDC1-7454-F545-9EA7-2F3BCF0E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88F9A18B-4216-3E3C-6A6E-705EE721FB05}"/>
              </a:ext>
            </a:extLst>
          </p:cNvPr>
          <p:cNvSpPr>
            <a:spLocks/>
          </p:cNvSpPr>
          <p:nvPr/>
        </p:nvSpPr>
        <p:spPr>
          <a:xfrm>
            <a:off x="14862934" y="2751050"/>
            <a:ext cx="2088821" cy="140025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EDCE44-008A-EC8F-5E75-0F05EB60C1E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9B49014-8ED1-C916-4E0A-6099B80B52DC}"/>
              </a:ext>
            </a:extLst>
          </p:cNvPr>
          <p:cNvSpPr/>
          <p:nvPr/>
        </p:nvSpPr>
        <p:spPr>
          <a:xfrm>
            <a:off x="-4628309" y="-1799492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054CE8C-A200-93F1-0CAE-0AE6187B18EB}"/>
              </a:ext>
            </a:extLst>
          </p:cNvPr>
          <p:cNvSpPr/>
          <p:nvPr/>
        </p:nvSpPr>
        <p:spPr>
          <a:xfrm>
            <a:off x="-4937227" y="6519916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CBAB0-38E1-1023-7C7A-498C8FA10892}"/>
              </a:ext>
            </a:extLst>
          </p:cNvPr>
          <p:cNvSpPr txBox="1"/>
          <p:nvPr/>
        </p:nvSpPr>
        <p:spPr>
          <a:xfrm>
            <a:off x="-4340859" y="-1641987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F5F042B-8C80-9216-24D3-6B8DC07AD6DA}"/>
              </a:ext>
            </a:extLst>
          </p:cNvPr>
          <p:cNvSpPr>
            <a:spLocks/>
          </p:cNvSpPr>
          <p:nvPr/>
        </p:nvSpPr>
        <p:spPr>
          <a:xfrm>
            <a:off x="14593597" y="199977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241A38-CD37-65E5-9FEC-7B4D045B56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14755250" y="2116596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71500252-CEE9-AE05-C5F4-195F9C41DC82}"/>
              </a:ext>
            </a:extLst>
          </p:cNvPr>
          <p:cNvSpPr>
            <a:spLocks/>
          </p:cNvSpPr>
          <p:nvPr/>
        </p:nvSpPr>
        <p:spPr>
          <a:xfrm>
            <a:off x="18021273" y="1737261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C83CCAD-FBFA-91FC-4A0E-AD984412DEA2}"/>
              </a:ext>
            </a:extLst>
          </p:cNvPr>
          <p:cNvSpPr>
            <a:spLocks/>
          </p:cNvSpPr>
          <p:nvPr/>
        </p:nvSpPr>
        <p:spPr>
          <a:xfrm>
            <a:off x="17871826" y="2663178"/>
            <a:ext cx="1070383" cy="375979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C53935-B11A-CBFE-1BD8-A4214E07E421}"/>
              </a:ext>
            </a:extLst>
          </p:cNvPr>
          <p:cNvSpPr txBox="1">
            <a:spLocks/>
          </p:cNvSpPr>
          <p:nvPr/>
        </p:nvSpPr>
        <p:spPr>
          <a:xfrm>
            <a:off x="16243832" y="848704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neighbor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0D0C6-64B0-240A-3D7B-DEBBCA73E139}"/>
              </a:ext>
            </a:extLst>
          </p:cNvPr>
          <p:cNvSpPr txBox="1"/>
          <p:nvPr/>
        </p:nvSpPr>
        <p:spPr>
          <a:xfrm>
            <a:off x="-4901953" y="6604033"/>
            <a:ext cx="45177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It gives the number of neighbors, the cell state and the flag that the row is completely empty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EAC652D-FA56-5748-279F-564E795E96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738" y="177800"/>
            <a:ext cx="11830488" cy="650239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A54F8-8EFE-4ECC-9DC6-43D33EA3BF79}"/>
              </a:ext>
            </a:extLst>
          </p:cNvPr>
          <p:cNvSpPr txBox="1"/>
          <p:nvPr/>
        </p:nvSpPr>
        <p:spPr>
          <a:xfrm>
            <a:off x="437590" y="330382"/>
            <a:ext cx="49804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Takes 3 rows Y, Y-1, Y+1 and counts the number of neighbors near cell X Y. If all three rows are empty, the flag for skipping this row Y is raised.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A3219-E43A-3AD7-A89B-CD5418004DAE}"/>
              </a:ext>
            </a:extLst>
          </p:cNvPr>
          <p:cNvSpPr txBox="1"/>
          <p:nvPr/>
        </p:nvSpPr>
        <p:spPr>
          <a:xfrm>
            <a:off x="7189533" y="199977"/>
            <a:ext cx="831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D6BE8"/>
                </a:solidFill>
                <a:latin typeface="Pixelify Sans" pitchFamily="2" charset="0"/>
              </a:rPr>
              <a:t>Y</a:t>
            </a:r>
            <a:endParaRPr lang="ru-RU" sz="40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43B9E7-E65A-B16E-6857-D49CCFEB3EFF}"/>
              </a:ext>
            </a:extLst>
          </p:cNvPr>
          <p:cNvSpPr txBox="1"/>
          <p:nvPr/>
        </p:nvSpPr>
        <p:spPr>
          <a:xfrm>
            <a:off x="5946607" y="177800"/>
            <a:ext cx="1077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D6BE8"/>
                </a:solidFill>
                <a:latin typeface="Pixelify Sans" pitchFamily="2" charset="0"/>
              </a:rPr>
              <a:t>Y-1</a:t>
            </a:r>
            <a:endParaRPr lang="ru-RU" sz="40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A80DC-EF01-4B51-C446-9D800BA9D5C3}"/>
              </a:ext>
            </a:extLst>
          </p:cNvPr>
          <p:cNvSpPr txBox="1"/>
          <p:nvPr/>
        </p:nvSpPr>
        <p:spPr>
          <a:xfrm>
            <a:off x="7985037" y="177800"/>
            <a:ext cx="1077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D6BE8"/>
                </a:solidFill>
                <a:latin typeface="Pixelify Sans" pitchFamily="2" charset="0"/>
              </a:rPr>
              <a:t>Y+1</a:t>
            </a:r>
            <a:endParaRPr lang="ru-RU" sz="40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DB09C9A9-9333-5C46-3355-94138A37085E}"/>
              </a:ext>
            </a:extLst>
          </p:cNvPr>
          <p:cNvCxnSpPr>
            <a:cxnSpLocks/>
          </p:cNvCxnSpPr>
          <p:nvPr/>
        </p:nvCxnSpPr>
        <p:spPr>
          <a:xfrm>
            <a:off x="7430036" y="840097"/>
            <a:ext cx="0" cy="627517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A5B90787-B79C-27CB-D771-352A8D158B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0612" y="875755"/>
            <a:ext cx="687283" cy="523885"/>
          </a:xfrm>
          <a:prstGeom prst="bentConnector3">
            <a:avLst>
              <a:gd name="adj1" fmla="val 50000"/>
            </a:avLst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072E00D9-86FD-A323-FF0D-45A9E0DE69A8}"/>
              </a:ext>
            </a:extLst>
          </p:cNvPr>
          <p:cNvCxnSpPr>
            <a:cxnSpLocks/>
          </p:cNvCxnSpPr>
          <p:nvPr/>
        </p:nvCxnSpPr>
        <p:spPr>
          <a:xfrm rot="5400000">
            <a:off x="7855581" y="862467"/>
            <a:ext cx="673557" cy="536738"/>
          </a:xfrm>
          <a:prstGeom prst="bentConnector3">
            <a:avLst>
              <a:gd name="adj1" fmla="val 50000"/>
            </a:avLst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67641C-7756-9496-A450-DD7D82CBBC8B}"/>
              </a:ext>
            </a:extLst>
          </p:cNvPr>
          <p:cNvSpPr txBox="1"/>
          <p:nvPr/>
        </p:nvSpPr>
        <p:spPr>
          <a:xfrm>
            <a:off x="9874834" y="2669483"/>
            <a:ext cx="22051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number of neighbors</a:t>
            </a:r>
            <a:endParaRPr lang="ru-RU" sz="2800" b="1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5AD8E2-7371-B64D-0552-3ADCBD9317E7}"/>
              </a:ext>
            </a:extLst>
          </p:cNvPr>
          <p:cNvSpPr txBox="1"/>
          <p:nvPr/>
        </p:nvSpPr>
        <p:spPr>
          <a:xfrm>
            <a:off x="9939622" y="947363"/>
            <a:ext cx="2205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Flag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87222B83-FD55-D51D-B226-85DF0EE08F70}"/>
              </a:ext>
            </a:extLst>
          </p:cNvPr>
          <p:cNvSpPr/>
          <p:nvPr/>
        </p:nvSpPr>
        <p:spPr>
          <a:xfrm>
            <a:off x="9530687" y="3944872"/>
            <a:ext cx="1055426" cy="231576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646DFFFB-9EE9-E25D-1A1E-62E86BD8D7CF}"/>
              </a:ext>
            </a:extLst>
          </p:cNvPr>
          <p:cNvSpPr/>
          <p:nvPr/>
        </p:nvSpPr>
        <p:spPr>
          <a:xfrm>
            <a:off x="6540692" y="1489791"/>
            <a:ext cx="2861432" cy="485197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D93FD5E-9277-EC1E-E12D-0CB75A924824}"/>
              </a:ext>
            </a:extLst>
          </p:cNvPr>
          <p:cNvGrpSpPr/>
          <p:nvPr/>
        </p:nvGrpSpPr>
        <p:grpSpPr>
          <a:xfrm>
            <a:off x="6485547" y="1467614"/>
            <a:ext cx="4172991" cy="4939671"/>
            <a:chOff x="2753256" y="177800"/>
            <a:chExt cx="5739214" cy="6793648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6546CA0A-4A01-F99A-A7C2-221837E4B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340"/>
            <a:stretch/>
          </p:blipFill>
          <p:spPr>
            <a:xfrm>
              <a:off x="2753256" y="3514969"/>
              <a:ext cx="5739214" cy="3456479"/>
            </a:xfrm>
            <a:prstGeom prst="rect">
              <a:avLst/>
            </a:prstGeom>
          </p:spPr>
        </p:pic>
        <p:pic>
          <p:nvPicPr>
            <p:cNvPr id="17" name="Рисунок 16" descr="Изображение выглядит как диаграмма, зарисовка, Технический чертеж, План">
              <a:extLst>
                <a:ext uri="{FF2B5EF4-FFF2-40B4-BE49-F238E27FC236}">
                  <a16:creationId xmlns:a16="http://schemas.microsoft.com/office/drawing/2014/main" id="{C1360592-4518-A964-C6B0-C4043BEF3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804"/>
            <a:stretch/>
          </p:blipFill>
          <p:spPr>
            <a:xfrm>
              <a:off x="2753256" y="177800"/>
              <a:ext cx="4071126" cy="3337169"/>
            </a:xfrm>
            <a:prstGeom prst="rect">
              <a:avLst/>
            </a:prstGeom>
          </p:spPr>
        </p:pic>
      </p:grp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D50372FF-5556-E8A4-A823-FC3AE7EA75E0}"/>
              </a:ext>
            </a:extLst>
          </p:cNvPr>
          <p:cNvCxnSpPr>
            <a:cxnSpLocks/>
          </p:cNvCxnSpPr>
          <p:nvPr/>
        </p:nvCxnSpPr>
        <p:spPr>
          <a:xfrm>
            <a:off x="9861317" y="2814843"/>
            <a:ext cx="0" cy="2067212"/>
          </a:xfrm>
          <a:prstGeom prst="straightConnector1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Соединитель: уступ 54">
            <a:extLst>
              <a:ext uri="{FF2B5EF4-FFF2-40B4-BE49-F238E27FC236}">
                <a16:creationId xmlns:a16="http://schemas.microsoft.com/office/drawing/2014/main" id="{F7180072-4779-B186-1F4B-CAB5732641E9}"/>
              </a:ext>
            </a:extLst>
          </p:cNvPr>
          <p:cNvCxnSpPr>
            <a:cxnSpLocks/>
          </p:cNvCxnSpPr>
          <p:nvPr/>
        </p:nvCxnSpPr>
        <p:spPr>
          <a:xfrm rot="5400000">
            <a:off x="8335617" y="1790787"/>
            <a:ext cx="2231507" cy="776904"/>
          </a:xfrm>
          <a:prstGeom prst="bentConnector3">
            <a:avLst/>
          </a:prstGeom>
          <a:ln w="76200">
            <a:solidFill>
              <a:srgbClr val="FD6B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55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C3860-CD52-17CD-3C85-4D170CE3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6DE5024-802F-2BE8-88D7-275959362692}"/>
              </a:ext>
            </a:extLst>
          </p:cNvPr>
          <p:cNvSpPr>
            <a:spLocks/>
          </p:cNvSpPr>
          <p:nvPr/>
        </p:nvSpPr>
        <p:spPr>
          <a:xfrm>
            <a:off x="5269120" y="2728874"/>
            <a:ext cx="2088821" cy="1400252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72D472-9A37-FFD2-3D62-1E21CEA642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AB5C07D-5B4B-D2BC-4B57-9132232FAE65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125EBFB-E823-42A5-C7B5-2E8C40E0F317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6A791-AED7-F3E2-7DBC-642A4723A95B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4F9028F1-B89B-4EA7-DF35-689C090A77CB}"/>
              </a:ext>
            </a:extLst>
          </p:cNvPr>
          <p:cNvSpPr>
            <a:spLocks/>
          </p:cNvSpPr>
          <p:nvPr/>
        </p:nvSpPr>
        <p:spPr>
          <a:xfrm>
            <a:off x="5263344" y="2868246"/>
            <a:ext cx="1029554" cy="834205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220C961-D116-99E9-E47A-CF3B169A3A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1CC346-C645-484C-86B4-93A5525244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61A3FA5D-D2A1-24B3-335F-079EBAC0A686}"/>
              </a:ext>
            </a:extLst>
          </p:cNvPr>
          <p:cNvSpPr/>
          <p:nvPr/>
        </p:nvSpPr>
        <p:spPr>
          <a:xfrm>
            <a:off x="8427459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AA6F59-6C30-21B5-9DBA-0C14EB8AD2B4}"/>
              </a:ext>
            </a:extLst>
          </p:cNvPr>
          <p:cNvSpPr/>
          <p:nvPr/>
        </p:nvSpPr>
        <p:spPr>
          <a:xfrm>
            <a:off x="8278012" y="2641002"/>
            <a:ext cx="1070383" cy="3759798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14BF8D-2B74-C049-6F80-35BC7488CD24}"/>
              </a:ext>
            </a:extLst>
          </p:cNvPr>
          <p:cNvSpPr txBox="1"/>
          <p:nvPr/>
        </p:nvSpPr>
        <p:spPr>
          <a:xfrm>
            <a:off x="6650018" y="826528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neighbor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BBE74-B1E9-CE26-0646-ADA0CBBAFCCA}"/>
              </a:ext>
            </a:extLst>
          </p:cNvPr>
          <p:cNvSpPr txBox="1"/>
          <p:nvPr/>
        </p:nvSpPr>
        <p:spPr>
          <a:xfrm>
            <a:off x="221011" y="1916546"/>
            <a:ext cx="45177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It gives the number of neighbors, the cell state and the flag that the row is completely empty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366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41F2B-D274-7FB4-686C-179981C8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2CC556-02C8-E94F-EAEC-7CA9D9B812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D9D1236-BE38-B0AA-8FFD-ABFBBA4BFA69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653A3FC-5D21-B379-B30C-4D8C352BCAA5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082B9-BEFB-3DA1-6DF2-0EFE8C62FFAF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A56FF15-EA4C-1918-A0DE-1FC09DED3686}"/>
              </a:ext>
            </a:extLst>
          </p:cNvPr>
          <p:cNvSpPr/>
          <p:nvPr/>
        </p:nvSpPr>
        <p:spPr>
          <a:xfrm>
            <a:off x="5213377" y="2532992"/>
            <a:ext cx="1143821" cy="752365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E88C605-ACFE-B0DC-F2B6-FB459354E6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5A5932-7723-F86D-C509-FDB2814054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094420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1A876AB3-1A13-A477-11DC-444DA9E4CDED}"/>
              </a:ext>
            </a:extLst>
          </p:cNvPr>
          <p:cNvSpPr/>
          <p:nvPr/>
        </p:nvSpPr>
        <p:spPr>
          <a:xfrm>
            <a:off x="9185876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2A7D2D4-2CA6-F243-16A3-E7BCCF5E88E9}"/>
              </a:ext>
            </a:extLst>
          </p:cNvPr>
          <p:cNvSpPr/>
          <p:nvPr/>
        </p:nvSpPr>
        <p:spPr>
          <a:xfrm>
            <a:off x="9018494" y="2591461"/>
            <a:ext cx="1045286" cy="3249941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FBD468-D566-9299-1CB4-E0E8E04D3145}"/>
              </a:ext>
            </a:extLst>
          </p:cNvPr>
          <p:cNvSpPr txBox="1"/>
          <p:nvPr/>
        </p:nvSpPr>
        <p:spPr>
          <a:xfrm>
            <a:off x="7355373" y="843136"/>
            <a:ext cx="4650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survival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2ED03-841E-E130-6585-8AD69153290F}"/>
              </a:ext>
            </a:extLst>
          </p:cNvPr>
          <p:cNvSpPr txBox="1"/>
          <p:nvPr/>
        </p:nvSpPr>
        <p:spPr>
          <a:xfrm>
            <a:off x="377140" y="1906124"/>
            <a:ext cx="45177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Indicates victory or defeat in survival mode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232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78B74-B56D-4045-1B5D-E8D73056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022039-99B1-69C4-2D23-8D1AEB68F8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899D806-FA2E-36B2-A2DB-D6AFE3DDEB4B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3357CB0-1375-3067-0FE1-7F50F39F29B9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ECC96-0897-5D5F-4CB1-3DD94B29FDD0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B228D26-AC9F-C79F-0E21-95FD03B581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88EEB9-B505-0611-46CC-A2A76CA1E9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" t="1608" r="3350"/>
          <a:stretch/>
        </p:blipFill>
        <p:spPr>
          <a:xfrm>
            <a:off x="5161436" y="2112287"/>
            <a:ext cx="6683174" cy="4425496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5EECF81C-9133-7F3A-E0DF-CB660AE1FB77}"/>
              </a:ext>
            </a:extLst>
          </p:cNvPr>
          <p:cNvSpPr/>
          <p:nvPr/>
        </p:nvSpPr>
        <p:spPr>
          <a:xfrm>
            <a:off x="10315430" y="1715085"/>
            <a:ext cx="651996" cy="704879"/>
          </a:xfrm>
          <a:prstGeom prst="downArrow">
            <a:avLst>
              <a:gd name="adj1" fmla="val 35221"/>
              <a:gd name="adj2" fmla="val 51020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3451211-76CE-37DA-F2E9-3A32EC066C89}"/>
              </a:ext>
            </a:extLst>
          </p:cNvPr>
          <p:cNvSpPr/>
          <p:nvPr/>
        </p:nvSpPr>
        <p:spPr>
          <a:xfrm>
            <a:off x="9970995" y="2951629"/>
            <a:ext cx="1526240" cy="2938183"/>
          </a:xfrm>
          <a:prstGeom prst="rect">
            <a:avLst/>
          </a:prstGeom>
          <a:noFill/>
          <a:ln w="76200">
            <a:solidFill>
              <a:srgbClr val="FD6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5CD385-12C9-2FC9-B069-9FA9F73179C5}"/>
              </a:ext>
            </a:extLst>
          </p:cNvPr>
          <p:cNvSpPr txBox="1"/>
          <p:nvPr/>
        </p:nvSpPr>
        <p:spPr>
          <a:xfrm>
            <a:off x="7193721" y="320217"/>
            <a:ext cx="46508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Visualization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E09FF-D775-75A5-8935-4CF106A8E2C7}"/>
              </a:ext>
            </a:extLst>
          </p:cNvPr>
          <p:cNvSpPr txBox="1"/>
          <p:nvPr/>
        </p:nvSpPr>
        <p:spPr>
          <a:xfrm>
            <a:off x="377140" y="1906124"/>
            <a:ext cx="45177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Visualize cursor and shrinking zones on the matrix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E2E44F23-DE3F-9BB3-5A74-0E0CA0ED4BA0}"/>
              </a:ext>
            </a:extLst>
          </p:cNvPr>
          <p:cNvSpPr/>
          <p:nvPr/>
        </p:nvSpPr>
        <p:spPr>
          <a:xfrm rot="16200000">
            <a:off x="-983417" y="471518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C2ED0C20-35E9-8305-E036-EE8D5EE564C8}"/>
              </a:ext>
            </a:extLst>
          </p:cNvPr>
          <p:cNvSpPr/>
          <p:nvPr/>
        </p:nvSpPr>
        <p:spPr>
          <a:xfrm rot="16200000">
            <a:off x="-985059" y="5350999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3286FF69-3361-FCB6-6042-C8EAAF023FB5}"/>
              </a:ext>
            </a:extLst>
          </p:cNvPr>
          <p:cNvSpPr/>
          <p:nvPr/>
        </p:nvSpPr>
        <p:spPr>
          <a:xfrm rot="16200000">
            <a:off x="-986701" y="601221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97765B-DF85-82C8-420A-6B66C6393F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49" t="2540" r="5753" b="73529"/>
          <a:stretch/>
        </p:blipFill>
        <p:spPr>
          <a:xfrm>
            <a:off x="5337771" y="10395359"/>
            <a:ext cx="6396640" cy="223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1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CAFDC-CDB5-93C2-19FB-6C744F1E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846919-D558-1546-5E5C-DE07019AF90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1759C19-2F34-E76F-898D-3F5074AD479A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5974A9C-9D2D-0FAC-EB5E-C52DC3296EED}"/>
              </a:ext>
            </a:extLst>
          </p:cNvPr>
          <p:cNvSpPr/>
          <p:nvPr/>
        </p:nvSpPr>
        <p:spPr>
          <a:xfrm>
            <a:off x="185737" y="183242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00750-756E-4FB6-92FA-10B51680C82D}"/>
              </a:ext>
            </a:extLst>
          </p:cNvPr>
          <p:cNvSpPr txBox="1"/>
          <p:nvPr/>
        </p:nvSpPr>
        <p:spPr>
          <a:xfrm>
            <a:off x="473188" y="335305"/>
            <a:ext cx="4007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1FFD5"/>
                </a:solidFill>
                <a:latin typeface="Pixelify Sans Medium" pitchFamily="2" charset="0"/>
              </a:rPr>
              <a:t>Hardware</a:t>
            </a:r>
            <a:endParaRPr lang="ru-RU" sz="6000" dirty="0">
              <a:solidFill>
                <a:srgbClr val="FD6BE8"/>
              </a:solidFill>
              <a:latin typeface="Pixelify Sans Medium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39E0EAD-E44B-4A64-4648-A049A761EE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C21B9E-88C1-AF69-7C9C-C1F2D1805CA0}"/>
              </a:ext>
            </a:extLst>
          </p:cNvPr>
          <p:cNvSpPr txBox="1"/>
          <p:nvPr/>
        </p:nvSpPr>
        <p:spPr>
          <a:xfrm>
            <a:off x="5547917" y="416878"/>
            <a:ext cx="4606984" cy="772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Status bar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E4B1F-EF69-7027-8BDD-E7DAC6991191}"/>
              </a:ext>
            </a:extLst>
          </p:cNvPr>
          <p:cNvSpPr txBox="1"/>
          <p:nvPr/>
        </p:nvSpPr>
        <p:spPr>
          <a:xfrm>
            <a:off x="377140" y="1906124"/>
            <a:ext cx="4517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Shows the current state of the game: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6" name="Рисунок 5" descr="Изображение выглядит как текст, снимок экрана, диаграмма, Шрифт">
            <a:extLst>
              <a:ext uri="{FF2B5EF4-FFF2-40B4-BE49-F238E27FC236}">
                <a16:creationId xmlns:a16="http://schemas.microsoft.com/office/drawing/2014/main" id="{252A3227-D65B-E0F4-5F98-ADF5B70A3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4" b="7749"/>
          <a:stretch/>
        </p:blipFill>
        <p:spPr>
          <a:xfrm>
            <a:off x="5312474" y="1227664"/>
            <a:ext cx="6419376" cy="2429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7C8E1C-B9CB-D62E-18A0-FF3C58D7F182}"/>
              </a:ext>
            </a:extLst>
          </p:cNvPr>
          <p:cNvSpPr txBox="1"/>
          <p:nvPr/>
        </p:nvSpPr>
        <p:spPr>
          <a:xfrm>
            <a:off x="860622" y="5211928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WIN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7BAA9-00BC-EAA3-5507-B071258C27A9}"/>
              </a:ext>
            </a:extLst>
          </p:cNvPr>
          <p:cNvSpPr txBox="1"/>
          <p:nvPr/>
        </p:nvSpPr>
        <p:spPr>
          <a:xfrm>
            <a:off x="860621" y="5866489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LOSE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EC646-C921-FA0C-8E9C-059733B050FD}"/>
              </a:ext>
            </a:extLst>
          </p:cNvPr>
          <p:cNvSpPr txBox="1"/>
          <p:nvPr/>
        </p:nvSpPr>
        <p:spPr>
          <a:xfrm>
            <a:off x="860622" y="4554770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SIMULATION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6D7D0-EEC3-2AF0-FBE8-E6D9B74B1605}"/>
              </a:ext>
            </a:extLst>
          </p:cNvPr>
          <p:cNvSpPr txBox="1"/>
          <p:nvPr/>
        </p:nvSpPr>
        <p:spPr>
          <a:xfrm>
            <a:off x="860622" y="3889727"/>
            <a:ext cx="451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EDIT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FA13586C-236B-5D97-1C9A-672C0EECFA36}"/>
              </a:ext>
            </a:extLst>
          </p:cNvPr>
          <p:cNvSpPr/>
          <p:nvPr/>
        </p:nvSpPr>
        <p:spPr>
          <a:xfrm rot="16200000">
            <a:off x="520867" y="4069209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DF17EAB7-B884-DDCE-35C2-3A1822049A29}"/>
              </a:ext>
            </a:extLst>
          </p:cNvPr>
          <p:cNvSpPr/>
          <p:nvPr/>
        </p:nvSpPr>
        <p:spPr>
          <a:xfrm rot="16200000">
            <a:off x="519225" y="471518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F915349C-FF59-9DFE-9BE8-9046485D1C7F}"/>
              </a:ext>
            </a:extLst>
          </p:cNvPr>
          <p:cNvSpPr/>
          <p:nvPr/>
        </p:nvSpPr>
        <p:spPr>
          <a:xfrm rot="16200000">
            <a:off x="517583" y="5350999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78AD5E91-F1D2-F5F2-A180-3B2CB7B753E4}"/>
              </a:ext>
            </a:extLst>
          </p:cNvPr>
          <p:cNvSpPr/>
          <p:nvPr/>
        </p:nvSpPr>
        <p:spPr>
          <a:xfrm rot="16200000">
            <a:off x="515941" y="6012214"/>
            <a:ext cx="251965" cy="348920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E04AF1F0-91B0-A5DD-AF1E-188EA4D07241}"/>
              </a:ext>
            </a:extLst>
          </p:cNvPr>
          <p:cNvGrpSpPr/>
          <p:nvPr/>
        </p:nvGrpSpPr>
        <p:grpSpPr>
          <a:xfrm>
            <a:off x="-6626" y="-11111961"/>
            <a:ext cx="12192000" cy="10726275"/>
            <a:chOff x="0" y="-3849757"/>
            <a:chExt cx="12192000" cy="10726275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BD6261DE-9014-E6CF-912F-2B6224D140B5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8E9939-2E3E-5345-4227-442950CD210E}"/>
                </a:ext>
              </a:extLst>
            </p:cNvPr>
            <p:cNvSpPr txBox="1"/>
            <p:nvPr/>
          </p:nvSpPr>
          <p:spPr>
            <a:xfrm>
              <a:off x="4101741" y="2116614"/>
              <a:ext cx="3663656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I/O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294BBE9-D0E4-4319-EA74-98B2FD690D85}"/>
              </a:ext>
            </a:extLst>
          </p:cNvPr>
          <p:cNvGrpSpPr/>
          <p:nvPr/>
        </p:nvGrpSpPr>
        <p:grpSpPr>
          <a:xfrm>
            <a:off x="0" y="-10979439"/>
            <a:ext cx="12192000" cy="10726275"/>
            <a:chOff x="0" y="-3849757"/>
            <a:chExt cx="12192000" cy="10726275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A64CD85D-610C-BEDF-99BB-242B03D3C8C1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80A93A-ADC2-945E-D598-E16DFBA2DAD6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SOFTWARE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BC6857A-B9C5-7BF5-944B-A1FB430E27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49" t="2540" r="5753" b="73529"/>
          <a:stretch/>
        </p:blipFill>
        <p:spPr>
          <a:xfrm>
            <a:off x="5312474" y="4166989"/>
            <a:ext cx="6419378" cy="2242133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911BBA6-0FB3-F499-CD28-ABD857651901}"/>
              </a:ext>
            </a:extLst>
          </p:cNvPr>
          <p:cNvSpPr/>
          <p:nvPr/>
        </p:nvSpPr>
        <p:spPr>
          <a:xfrm>
            <a:off x="5312474" y="1263370"/>
            <a:ext cx="6461895" cy="2429624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386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autoRev="1" fill="remov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4AD16-9406-FCE9-368E-5B82DCF9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961716-1457-590F-0785-57B659F468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F2A618A-8603-8300-ED3B-E8625F7CBF2E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119ED97-5AD4-AF19-B36D-617738D71E91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614BD72-7206-F0AF-8D57-3E78D3789537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ECF89BC-CC65-AFB3-3A37-8787588A1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570" y="911062"/>
            <a:ext cx="6704297" cy="38108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779B96-4713-0690-FC78-943576741A07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0B6891-93AF-5E32-F749-4624F4886F73}"/>
              </a:ext>
            </a:extLst>
          </p:cNvPr>
          <p:cNvSpPr txBox="1"/>
          <p:nvPr/>
        </p:nvSpPr>
        <p:spPr>
          <a:xfrm>
            <a:off x="6019757" y="165858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Loading Condition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BFA7E-6AB9-BF69-B2C5-64EF731BBFF2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Splits an 8-bit string of condition into 8 bytes into survival or death condition tables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12B14F-BDE0-0337-A225-CF08359010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4" t="32567" r="52116" b="16944"/>
          <a:stretch/>
        </p:blipFill>
        <p:spPr>
          <a:xfrm>
            <a:off x="5148513" y="5833755"/>
            <a:ext cx="6682353" cy="6267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8A77AF-9608-8800-A98D-ADF374926B92}"/>
              </a:ext>
            </a:extLst>
          </p:cNvPr>
          <p:cNvSpPr txBox="1"/>
          <p:nvPr/>
        </p:nvSpPr>
        <p:spPr>
          <a:xfrm>
            <a:off x="5136595" y="4920535"/>
            <a:ext cx="6112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Tables of conditions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F20C080-1B07-6130-D5EF-047BDE12B41A}"/>
              </a:ext>
            </a:extLst>
          </p:cNvPr>
          <p:cNvGrpSpPr/>
          <p:nvPr/>
        </p:nvGrpSpPr>
        <p:grpSpPr>
          <a:xfrm>
            <a:off x="0" y="-3868275"/>
            <a:ext cx="12192000" cy="10726275"/>
            <a:chOff x="0" y="-3849757"/>
            <a:chExt cx="12192000" cy="10726275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6021A286-B9CF-79DE-0A22-8520485C486A}"/>
                </a:ext>
              </a:extLst>
            </p:cNvPr>
            <p:cNvSpPr/>
            <p:nvPr/>
          </p:nvSpPr>
          <p:spPr>
            <a:xfrm>
              <a:off x="0" y="-3849757"/>
              <a:ext cx="12192000" cy="10726275"/>
            </a:xfrm>
            <a:prstGeom prst="roundRect">
              <a:avLst>
                <a:gd name="adj" fmla="val 0"/>
              </a:avLst>
            </a:prstGeom>
            <a:solidFill>
              <a:srgbClr val="0617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4A454D-E5C4-BA4F-6603-2EAEAAC5F34F}"/>
                </a:ext>
              </a:extLst>
            </p:cNvPr>
            <p:cNvSpPr txBox="1"/>
            <p:nvPr/>
          </p:nvSpPr>
          <p:spPr>
            <a:xfrm>
              <a:off x="770928" y="1902612"/>
              <a:ext cx="10963483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0" dirty="0">
                  <a:solidFill>
                    <a:srgbClr val="21FFD5"/>
                  </a:solidFill>
                  <a:latin typeface="Pixelify Sans" pitchFamily="2" charset="0"/>
                </a:rPr>
                <a:t>SOFTWARE</a:t>
              </a:r>
              <a:endParaRPr lang="ru-RU" sz="17000" dirty="0">
                <a:solidFill>
                  <a:srgbClr val="21FFD5"/>
                </a:solidFill>
                <a:latin typeface="Pixelify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222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82CC4-0BB4-A6FB-B6A9-88259DA4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DD2170-0859-4A3C-30FD-AA09C0C10F7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706AC38-8801-DE34-B961-2AA684960943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F19EFD7-51EB-D695-9D48-863BF502F4F9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21C2FDA-3EC5-41D7-83C7-080C6A5633B3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6C7F7-E38E-B73F-0034-24F2E57F319E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C3CC63-CA28-7EBF-40DC-79695F6359C4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75527C1A-72DA-918E-9D45-E2E81EDC8FB9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4786E1-1FA6-4C7D-4869-C60B10505179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71E3BC69-AEF7-F99D-9684-FF216D6F4299}"/>
              </a:ext>
            </a:extLst>
          </p:cNvPr>
          <p:cNvSpPr/>
          <p:nvPr/>
        </p:nvSpPr>
        <p:spPr>
          <a:xfrm>
            <a:off x="7470456" y="1257642"/>
            <a:ext cx="353683" cy="1295777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83F88-D818-99A5-7A2F-8817891CBCFB}"/>
              </a:ext>
            </a:extLst>
          </p:cNvPr>
          <p:cNvSpPr txBox="1"/>
          <p:nvPr/>
        </p:nvSpPr>
        <p:spPr>
          <a:xfrm>
            <a:off x="4902000" y="1414482"/>
            <a:ext cx="26564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skip dead and null-neighbors cells </a:t>
            </a:r>
          </a:p>
        </p:txBody>
      </p:sp>
    </p:spTree>
    <p:extLst>
      <p:ext uri="{BB962C8B-B14F-4D97-AF65-F5344CB8AC3E}">
        <p14:creationId xmlns:p14="http://schemas.microsoft.com/office/powerpoint/2010/main" val="1861983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65189-E081-6D09-0C95-B2D2C96E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C6D672-983D-9061-C5F4-E5B82A594C9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A8CA5EF-3071-CE05-1B07-67252595E738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E46C30A-BE16-2971-5B27-78D8066E9EF1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210E657-8AF8-86F4-3EBA-258409EF70BE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D315E-98A6-B91B-F633-3D177BB28F02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C473C137-CAEC-4A6F-0182-9A3C501FBD1F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41DA7A-857B-4D1B-C267-5EB4F1AEA7EF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A784C7A4-BA30-66FD-A969-66B90AF0287B}"/>
              </a:ext>
            </a:extLst>
          </p:cNvPr>
          <p:cNvSpPr/>
          <p:nvPr/>
        </p:nvSpPr>
        <p:spPr>
          <a:xfrm>
            <a:off x="7470456" y="2518913"/>
            <a:ext cx="353683" cy="910088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82C97-DD01-1982-AE2A-9BAB232DBB9D}"/>
              </a:ext>
            </a:extLst>
          </p:cNvPr>
          <p:cNvSpPr txBox="1"/>
          <p:nvPr/>
        </p:nvSpPr>
        <p:spPr>
          <a:xfrm>
            <a:off x="4838273" y="1832432"/>
            <a:ext cx="26564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separate check if no neighbors near the live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0CC78-6392-621C-DF0E-CFD5A634CBC0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2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392E7-EFC5-A2ED-9017-EA4F7869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F23F98F-1A6E-928A-697F-33CAE7537DC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0092E9B-426F-CADF-1473-C2D0539BF949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8C39095-B3FE-7AFC-33B8-71E1F6CAF882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202AA2D-4C33-6445-71EE-4719C2E14ED5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0883E-73E9-5D3D-1833-A1409794B6A8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4D46B37C-B854-4DBD-D39D-841A7B60EA09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7CF8CB-A02F-9883-FC3D-3AC3B8CD87F1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B142A452-CABF-6AF7-3307-87DCFA8CC7F5}"/>
              </a:ext>
            </a:extLst>
          </p:cNvPr>
          <p:cNvSpPr/>
          <p:nvPr/>
        </p:nvSpPr>
        <p:spPr>
          <a:xfrm>
            <a:off x="7512739" y="3421444"/>
            <a:ext cx="353683" cy="1659513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46487-1642-2A3A-E06E-59567CDFAA41}"/>
              </a:ext>
            </a:extLst>
          </p:cNvPr>
          <p:cNvSpPr txBox="1"/>
          <p:nvPr/>
        </p:nvSpPr>
        <p:spPr>
          <a:xfrm>
            <a:off x="5495026" y="3558702"/>
            <a:ext cx="1999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Else using condition tables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FA2FD-DA44-5B83-FFE6-6DC7992296E3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6C414-4FD3-7090-7D6C-D64F1DE7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A4E2808-A72A-F539-57BD-89C50A2F7CB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247862A-BE00-3317-001E-D3AE881E5BF1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569F414-E846-D9FE-252A-EB6545CAA13E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5EDAD91-AE2D-52CA-734D-94FFA4C6F440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059A9-B38A-9796-F1D8-472BCBF64039}"/>
              </a:ext>
            </a:extLst>
          </p:cNvPr>
          <p:cNvSpPr txBox="1"/>
          <p:nvPr/>
        </p:nvSpPr>
        <p:spPr>
          <a:xfrm>
            <a:off x="7007623" y="303339"/>
            <a:ext cx="491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Computing Cell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B89A3BDC-B5CE-2AC2-A96A-85BE121BFCD6}"/>
              </a:ext>
            </a:extLst>
          </p:cNvPr>
          <p:cNvPicPr/>
          <p:nvPr/>
        </p:nvPicPr>
        <p:blipFill rotWithShape="1">
          <a:blip r:embed="rId4"/>
          <a:srcRect t="875"/>
          <a:stretch/>
        </p:blipFill>
        <p:spPr bwMode="auto">
          <a:xfrm>
            <a:off x="7912094" y="1198317"/>
            <a:ext cx="4006215" cy="540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04172E-829B-865C-11DB-2C61660B2B43}"/>
              </a:ext>
            </a:extLst>
          </p:cNvPr>
          <p:cNvSpPr txBox="1"/>
          <p:nvPr/>
        </p:nvSpPr>
        <p:spPr>
          <a:xfrm>
            <a:off x="273691" y="254494"/>
            <a:ext cx="4378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1FFD5"/>
                </a:solidFill>
                <a:latin typeface="Pixelify Sans" pitchFamily="2" charset="0"/>
              </a:rPr>
              <a:t>Labels referring to functions</a:t>
            </a:r>
            <a:endParaRPr lang="ru-RU" sz="40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6" name="Левая фигурная скобка 5">
            <a:extLst>
              <a:ext uri="{FF2B5EF4-FFF2-40B4-BE49-F238E27FC236}">
                <a16:creationId xmlns:a16="http://schemas.microsoft.com/office/drawing/2014/main" id="{F48D17F5-B241-4FC1-DEE5-C572A48C495F}"/>
              </a:ext>
            </a:extLst>
          </p:cNvPr>
          <p:cNvSpPr/>
          <p:nvPr/>
        </p:nvSpPr>
        <p:spPr>
          <a:xfrm>
            <a:off x="7503576" y="5313872"/>
            <a:ext cx="353683" cy="1240789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2BE93-3FB6-2077-795F-A14CBBFD0345}"/>
              </a:ext>
            </a:extLst>
          </p:cNvPr>
          <p:cNvSpPr txBox="1"/>
          <p:nvPr/>
        </p:nvSpPr>
        <p:spPr>
          <a:xfrm>
            <a:off x="4999783" y="4791365"/>
            <a:ext cx="24489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rgbClr val="FD6BE8"/>
                </a:solidFill>
                <a:latin typeface="Pixelify Sans" pitchFamily="2" charset="0"/>
              </a:rPr>
              <a:t>After that change or not the cell state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A82408-E6FE-2D60-1FD4-FC4F5B140D3D}"/>
              </a:ext>
            </a:extLst>
          </p:cNvPr>
          <p:cNvSpPr txBox="1"/>
          <p:nvPr/>
        </p:nvSpPr>
        <p:spPr>
          <a:xfrm>
            <a:off x="273691" y="1881471"/>
            <a:ext cx="43788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Determines whether to change the state of the current cell using condition tables 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5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B3B39-CC31-B0B2-9091-B7B78973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328C0D-481F-E1F9-C14B-D7F94DE36EB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6B4FE7D-7649-397F-4BA9-3D7B90A0098C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03B47E1-C15F-317F-0EF5-4009F29BED8E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24B99F4-96D8-CF25-026E-FB4C02D7118E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F60A2-9437-84E7-AD8F-26506B187522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C1759-2F88-5C5C-5A12-624990872356}"/>
              </a:ext>
            </a:extLst>
          </p:cNvPr>
          <p:cNvSpPr txBox="1"/>
          <p:nvPr/>
        </p:nvSpPr>
        <p:spPr>
          <a:xfrm>
            <a:off x="185736" y="1747936"/>
            <a:ext cx="462830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At the beginning, using the loop, we wait for the game start or for the button to draw a pattern to be pressed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9" name="image12.png">
            <a:extLst>
              <a:ext uri="{FF2B5EF4-FFF2-40B4-BE49-F238E27FC236}">
                <a16:creationId xmlns:a16="http://schemas.microsoft.com/office/drawing/2014/main" id="{3A2EE41A-4A35-CF5E-92CB-EF32ACBCB4DB}"/>
              </a:ext>
            </a:extLst>
          </p:cNvPr>
          <p:cNvPicPr/>
          <p:nvPr/>
        </p:nvPicPr>
        <p:blipFill>
          <a:blip r:embed="rId4"/>
          <a:srcRect t="13459"/>
          <a:stretch/>
        </p:blipFill>
        <p:spPr>
          <a:xfrm>
            <a:off x="6015888" y="2728758"/>
            <a:ext cx="5158420" cy="3683119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086AF8-87E6-48FF-DE40-A8A79947150A}"/>
              </a:ext>
            </a:extLst>
          </p:cNvPr>
          <p:cNvSpPr txBox="1"/>
          <p:nvPr/>
        </p:nvSpPr>
        <p:spPr>
          <a:xfrm>
            <a:off x="5356187" y="1363215"/>
            <a:ext cx="62936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Waiting for the start</a:t>
            </a:r>
          </a:p>
        </p:txBody>
      </p:sp>
    </p:spTree>
    <p:extLst>
      <p:ext uri="{BB962C8B-B14F-4D97-AF65-F5344CB8AC3E}">
        <p14:creationId xmlns:p14="http://schemas.microsoft.com/office/powerpoint/2010/main" val="1768621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4FA26-4A29-BEAD-31B8-63D14638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7E0BAF-DADC-BE22-C10F-399CE5026D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0968820-079A-62E0-F17A-59F1EC240D06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B5DB945-25D9-BB68-7D61-DF39F8536102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07967E4-0A16-045D-3B46-1ACF7D560B3D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2C775-8C22-813E-7AF4-731D40A070C2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4171C-E814-73A3-BCFD-4150089CBD9F}"/>
              </a:ext>
            </a:extLst>
          </p:cNvPr>
          <p:cNvSpPr txBox="1"/>
          <p:nvPr/>
        </p:nvSpPr>
        <p:spPr>
          <a:xfrm>
            <a:off x="294594" y="1891280"/>
            <a:ext cx="43816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B521"/>
                </a:solidFill>
                <a:latin typeface="Pixelify Sans" pitchFamily="2" charset="0"/>
              </a:rPr>
              <a:t>After startup, we load the survival and death conditions using loading Condition function</a:t>
            </a:r>
            <a:endParaRPr lang="ru-RU" sz="40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95B658-D825-D14D-4014-FA77BA93DA7F}"/>
              </a:ext>
            </a:extLst>
          </p:cNvPr>
          <p:cNvSpPr txBox="1"/>
          <p:nvPr/>
        </p:nvSpPr>
        <p:spPr>
          <a:xfrm>
            <a:off x="5212474" y="347552"/>
            <a:ext cx="65760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BE8"/>
                </a:solidFill>
                <a:latin typeface="Pixelify Sans" pitchFamily="2" charset="0"/>
              </a:rPr>
              <a:t>The conditions of death are produced by negating the condition of survival.</a:t>
            </a:r>
          </a:p>
        </p:txBody>
      </p:sp>
      <p:pic>
        <p:nvPicPr>
          <p:cNvPr id="4" name="image25.png">
            <a:extLst>
              <a:ext uri="{FF2B5EF4-FFF2-40B4-BE49-F238E27FC236}">
                <a16:creationId xmlns:a16="http://schemas.microsoft.com/office/drawing/2014/main" id="{FEB5E061-ED2D-6934-0E07-A22EDB75731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212475" y="3318070"/>
            <a:ext cx="6576079" cy="31118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81214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E3C64-4376-C905-474D-2544E9B7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3E615A-5F66-8ECC-ACD0-BD9EDB08AD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788FEAF-E310-685D-58B3-FEEC3286A499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B1F3A95-ABDF-7181-16DC-17D4EC5383AE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3ED5A15-2518-6B09-8FF1-E6A397DE74D1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5F629-D779-8745-15B3-B5C497E82F6D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5E126-6953-A46C-7B2C-75B0A52752C2}"/>
              </a:ext>
            </a:extLst>
          </p:cNvPr>
          <p:cNvSpPr txBox="1"/>
          <p:nvPr/>
        </p:nvSpPr>
        <p:spPr>
          <a:xfrm>
            <a:off x="294593" y="1891280"/>
            <a:ext cx="44874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B521"/>
                </a:solidFill>
                <a:latin typeface="Pixelify Sans" pitchFamily="2" charset="0"/>
              </a:rPr>
              <a:t>If the mode is creative, the field boundaries are loaded from 0 to 31, if the mode is survival, the boundaries</a:t>
            </a:r>
            <a:r>
              <a:rPr lang="ru-RU" sz="32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200" dirty="0">
                <a:solidFill>
                  <a:srgbClr val="FFB521"/>
                </a:solidFill>
                <a:latin typeface="Pixelify Sans" pitchFamily="2" charset="0"/>
              </a:rPr>
              <a:t> start from 1 to 30 and shrinking each generation</a:t>
            </a:r>
            <a:r>
              <a:rPr lang="ru-RU" sz="32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200" dirty="0">
                <a:solidFill>
                  <a:srgbClr val="FFB521"/>
                </a:solidFill>
                <a:latin typeface="Pixelify Sans" pitchFamily="2" charset="0"/>
              </a:rPr>
              <a:t>until 1</a:t>
            </a:r>
            <a:endParaRPr lang="ru-RU" sz="32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474CED2-553A-D0D8-8C33-9DA26D9AEAFD}"/>
              </a:ext>
            </a:extLst>
          </p:cNvPr>
          <p:cNvGrpSpPr/>
          <p:nvPr/>
        </p:nvGrpSpPr>
        <p:grpSpPr>
          <a:xfrm rot="10800000">
            <a:off x="8284577" y="3682724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373A91E1-585A-48E3-7036-985119E83C68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7E0A14FA-7F9E-99E8-AF43-921D8AFA8BB7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A858C50-7FD5-F4B0-36B1-A9EB00C9C774}"/>
              </a:ext>
            </a:extLst>
          </p:cNvPr>
          <p:cNvGrpSpPr/>
          <p:nvPr/>
        </p:nvGrpSpPr>
        <p:grpSpPr>
          <a:xfrm>
            <a:off x="8093668" y="3476411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4E900E93-242B-C2C0-0C48-D052524841EC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B8D63977-F711-EFF1-AEE9-98E075054E01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image22.png">
            <a:extLst>
              <a:ext uri="{FF2B5EF4-FFF2-40B4-BE49-F238E27FC236}">
                <a16:creationId xmlns:a16="http://schemas.microsoft.com/office/drawing/2014/main" id="{AE9BBD5E-936A-B3DE-7440-F748FE25BE3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007663" y="1832432"/>
            <a:ext cx="3780890" cy="4684804"/>
          </a:xfrm>
          <a:prstGeom prst="rect">
            <a:avLst/>
          </a:prstGeom>
          <a:ln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6EB6DB-9AE8-EA5F-2A96-B04F2239D6C6}"/>
              </a:ext>
            </a:extLst>
          </p:cNvPr>
          <p:cNvSpPr txBox="1"/>
          <p:nvPr/>
        </p:nvSpPr>
        <p:spPr>
          <a:xfrm>
            <a:off x="5277400" y="695677"/>
            <a:ext cx="2890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 err="1">
                <a:solidFill>
                  <a:srgbClr val="FD6BE8"/>
                </a:solidFill>
                <a:latin typeface="Pixelify Sans" pitchFamily="2" charset="0"/>
              </a:rPr>
              <a:t>minBound</a:t>
            </a:r>
            <a:endParaRPr lang="en-US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356E9-9AA1-7C2F-4A35-BB91F600AAA1}"/>
              </a:ext>
            </a:extLst>
          </p:cNvPr>
          <p:cNvSpPr txBox="1"/>
          <p:nvPr/>
        </p:nvSpPr>
        <p:spPr>
          <a:xfrm>
            <a:off x="8060077" y="695677"/>
            <a:ext cx="33631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 err="1">
                <a:solidFill>
                  <a:srgbClr val="FD6BE8"/>
                </a:solidFill>
                <a:latin typeface="Pixelify Sans" pitchFamily="2" charset="0"/>
              </a:rPr>
              <a:t>maxBound</a:t>
            </a:r>
            <a:endParaRPr lang="en-US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6D06BC-ADFD-FC44-B636-C20F89E0C2A5}"/>
              </a:ext>
            </a:extLst>
          </p:cNvPr>
          <p:cNvSpPr txBox="1"/>
          <p:nvPr/>
        </p:nvSpPr>
        <p:spPr>
          <a:xfrm>
            <a:off x="5277988" y="1832432"/>
            <a:ext cx="25119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B521"/>
                </a:solidFill>
                <a:latin typeface="Pixelify Sans" pitchFamily="2" charset="0"/>
              </a:rPr>
              <a:t>These labels are used to limit the field to be calculated</a:t>
            </a:r>
            <a:endParaRPr lang="ru-RU" sz="32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BB10F0A0-774E-6F55-8725-8E65087BDF3D}"/>
              </a:ext>
            </a:extLst>
          </p:cNvPr>
          <p:cNvSpPr/>
          <p:nvPr/>
        </p:nvSpPr>
        <p:spPr>
          <a:xfrm rot="16200000">
            <a:off x="-563901" y="2782468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B5E9F238-F69B-938F-0512-F16C6C3AFEB2}"/>
              </a:ext>
            </a:extLst>
          </p:cNvPr>
          <p:cNvSpPr/>
          <p:nvPr/>
        </p:nvSpPr>
        <p:spPr>
          <a:xfrm rot="16200000">
            <a:off x="-563903" y="4434897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C92639-5DB4-81F0-FF9A-3AEB9914F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20944" y="5901247"/>
            <a:ext cx="302483" cy="38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45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10F3B-08AA-2592-BF54-2FF99DB9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4FEBBD1-A445-7266-18F4-3B87715AD0C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8B3E344-0198-6137-CD12-AEFE1893571F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1AA6000-8C45-5BE2-937F-B056D4DB70B6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0AB3CF4-0372-B388-7944-4271DD0AC56B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16335-4886-7014-BFC6-2218172DD594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F3EB7-EF26-79E3-5A30-2C7A3DBCB6AF}"/>
              </a:ext>
            </a:extLst>
          </p:cNvPr>
          <p:cNvSpPr txBox="1"/>
          <p:nvPr/>
        </p:nvSpPr>
        <p:spPr>
          <a:xfrm>
            <a:off x="966299" y="2116963"/>
            <a:ext cx="4143842" cy="346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 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3600" dirty="0" err="1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minBound</a:t>
            </a:r>
            <a:r>
              <a:rPr lang="en-US" sz="2800" b="1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- upper left border of field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 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3600" dirty="0" err="1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maxBound</a:t>
            </a:r>
            <a:r>
              <a:rPr lang="en-US" sz="2800" b="1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B521"/>
                </a:solidFill>
                <a:effectLst/>
                <a:latin typeface="Pixelify Sans" pitchFamily="2" charset="0"/>
                <a:ea typeface="Times New Roman" panose="02020603050405020304" pitchFamily="18" charset="0"/>
              </a:rPr>
              <a:t>- lower right border of field</a:t>
            </a:r>
            <a:endParaRPr lang="ru-RU" sz="2800" dirty="0">
              <a:solidFill>
                <a:srgbClr val="FFB521"/>
              </a:solidFill>
              <a:effectLst/>
              <a:latin typeface="Pixelify Sans" pitchFamily="2" charset="0"/>
              <a:ea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80E1F-3A07-A252-174B-D33EDEE08448}"/>
              </a:ext>
            </a:extLst>
          </p:cNvPr>
          <p:cNvSpPr txBox="1"/>
          <p:nvPr/>
        </p:nvSpPr>
        <p:spPr>
          <a:xfrm>
            <a:off x="4167191" y="1489180"/>
            <a:ext cx="289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minBound</a:t>
            </a:r>
            <a:endParaRPr lang="en-US" sz="32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906964-5801-4C82-F7C3-3FE9BAB68EF9}"/>
              </a:ext>
            </a:extLst>
          </p:cNvPr>
          <p:cNvSpPr txBox="1"/>
          <p:nvPr/>
        </p:nvSpPr>
        <p:spPr>
          <a:xfrm>
            <a:off x="8503023" y="5980839"/>
            <a:ext cx="3363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maxBound</a:t>
            </a:r>
            <a:endParaRPr lang="en-US" sz="44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919DA8-C0A0-84B2-F373-9653052181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3" t="484" r="1041" b="2684"/>
          <a:stretch/>
        </p:blipFill>
        <p:spPr>
          <a:xfrm>
            <a:off x="6854025" y="2409290"/>
            <a:ext cx="3297996" cy="3298830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C81161B7-6159-6057-F678-F5547B054D8E}"/>
              </a:ext>
            </a:extLst>
          </p:cNvPr>
          <p:cNvGrpSpPr/>
          <p:nvPr/>
        </p:nvGrpSpPr>
        <p:grpSpPr>
          <a:xfrm>
            <a:off x="6556600" y="2116963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1DB6237-65FA-304C-0AC4-2616DA4974DA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4943ADF-CB13-18D7-94DA-B87D9A5F0A05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462FD8A1-A4E7-9736-D49E-BD03A3D50E84}"/>
              </a:ext>
            </a:extLst>
          </p:cNvPr>
          <p:cNvGrpSpPr/>
          <p:nvPr/>
        </p:nvGrpSpPr>
        <p:grpSpPr>
          <a:xfrm rot="10800000">
            <a:off x="9590901" y="5110483"/>
            <a:ext cx="839103" cy="904126"/>
            <a:chOff x="5536012" y="3719245"/>
            <a:chExt cx="1159266" cy="1155843"/>
          </a:xfrm>
          <a:solidFill>
            <a:srgbClr val="FD6BE8"/>
          </a:solidFill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D4C63E9-CF1A-9477-649D-C3A9ABA6200E}"/>
                </a:ext>
              </a:extLst>
            </p:cNvPr>
            <p:cNvSpPr/>
            <p:nvPr/>
          </p:nvSpPr>
          <p:spPr>
            <a:xfrm>
              <a:off x="5536012" y="3719245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23C3617B-D551-DD27-F45D-2154ACA52772}"/>
                </a:ext>
              </a:extLst>
            </p:cNvPr>
            <p:cNvSpPr/>
            <p:nvPr/>
          </p:nvSpPr>
          <p:spPr>
            <a:xfrm rot="5400000">
              <a:off x="5985482" y="3273199"/>
              <a:ext cx="263750" cy="1155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0CADAA7F-08A1-EEC3-325E-11C95B76AE39}"/>
              </a:ext>
            </a:extLst>
          </p:cNvPr>
          <p:cNvSpPr/>
          <p:nvPr/>
        </p:nvSpPr>
        <p:spPr>
          <a:xfrm rot="16200000">
            <a:off x="494337" y="2782468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84CC8167-4333-A2A5-FBCE-2F7D13BBBA03}"/>
              </a:ext>
            </a:extLst>
          </p:cNvPr>
          <p:cNvSpPr/>
          <p:nvPr/>
        </p:nvSpPr>
        <p:spPr>
          <a:xfrm rot="16200000">
            <a:off x="494335" y="4434897"/>
            <a:ext cx="367393" cy="576532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37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7180B-C0E6-C420-88ED-BAC486B3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20A557-1C9C-0193-952E-49416499D5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2146610-085D-BABC-E65C-BD1A3F2BEB38}"/>
              </a:ext>
            </a:extLst>
          </p:cNvPr>
          <p:cNvSpPr/>
          <p:nvPr/>
        </p:nvSpPr>
        <p:spPr>
          <a:xfrm>
            <a:off x="185738" y="177800"/>
            <a:ext cx="4628309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FB000BD-0408-36E9-BE2D-87BE6BF6A97F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37B649A-F908-3905-2873-399295D4CC1F}"/>
              </a:ext>
            </a:extLst>
          </p:cNvPr>
          <p:cNvSpPr>
            <a:spLocks/>
          </p:cNvSpPr>
          <p:nvPr/>
        </p:nvSpPr>
        <p:spPr>
          <a:xfrm>
            <a:off x="4999783" y="177801"/>
            <a:ext cx="7006481" cy="6502398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0A125-52C0-7CEC-0187-C31FEE4500D5}"/>
              </a:ext>
            </a:extLst>
          </p:cNvPr>
          <p:cNvSpPr txBox="1"/>
          <p:nvPr/>
        </p:nvSpPr>
        <p:spPr>
          <a:xfrm>
            <a:off x="898554" y="444610"/>
            <a:ext cx="437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1FFD5"/>
                </a:solidFill>
                <a:latin typeface="Pixelify Sans" pitchFamily="2" charset="0"/>
              </a:rPr>
              <a:t>Main code</a:t>
            </a:r>
            <a:endParaRPr lang="ru-RU" sz="48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88034B7-5AD1-D610-B399-B75CA15DCCD0}"/>
              </a:ext>
            </a:extLst>
          </p:cNvPr>
          <p:cNvGrpSpPr/>
          <p:nvPr/>
        </p:nvGrpSpPr>
        <p:grpSpPr>
          <a:xfrm>
            <a:off x="9377977" y="346033"/>
            <a:ext cx="2468865" cy="6165933"/>
            <a:chOff x="9447088" y="298868"/>
            <a:chExt cx="2468865" cy="6165933"/>
          </a:xfrm>
        </p:grpSpPr>
        <p:pic>
          <p:nvPicPr>
            <p:cNvPr id="6" name="image28.png">
              <a:extLst>
                <a:ext uri="{FF2B5EF4-FFF2-40B4-BE49-F238E27FC236}">
                  <a16:creationId xmlns:a16="http://schemas.microsoft.com/office/drawing/2014/main" id="{7DF1C0B4-9DB2-A70B-9B1F-CB10D5375ACD}"/>
                </a:ext>
              </a:extLst>
            </p:cNvPr>
            <p:cNvPicPr/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9447088" y="298868"/>
              <a:ext cx="2468865" cy="2840964"/>
            </a:xfrm>
            <a:prstGeom prst="rect">
              <a:avLst/>
            </a:prstGeom>
            <a:ln/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6F61F5F-8FF6-30EB-3F22-6C7A05583E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28"/>
            <a:stretch/>
          </p:blipFill>
          <p:spPr bwMode="auto">
            <a:xfrm>
              <a:off x="9447088" y="3139831"/>
              <a:ext cx="2468865" cy="332497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22" name="Левая фигурная скобка 21">
            <a:extLst>
              <a:ext uri="{FF2B5EF4-FFF2-40B4-BE49-F238E27FC236}">
                <a16:creationId xmlns:a16="http://schemas.microsoft.com/office/drawing/2014/main" id="{B03A27D9-40B4-5040-3E83-F014449A17A8}"/>
              </a:ext>
            </a:extLst>
          </p:cNvPr>
          <p:cNvSpPr/>
          <p:nvPr/>
        </p:nvSpPr>
        <p:spPr>
          <a:xfrm>
            <a:off x="8825022" y="413840"/>
            <a:ext cx="388483" cy="2773156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Левая фигурная скобка 22">
            <a:extLst>
              <a:ext uri="{FF2B5EF4-FFF2-40B4-BE49-F238E27FC236}">
                <a16:creationId xmlns:a16="http://schemas.microsoft.com/office/drawing/2014/main" id="{DA5F94B4-CBBC-6F8A-F0B6-98D4B96619BC}"/>
              </a:ext>
            </a:extLst>
          </p:cNvPr>
          <p:cNvSpPr/>
          <p:nvPr/>
        </p:nvSpPr>
        <p:spPr>
          <a:xfrm>
            <a:off x="8825022" y="3293491"/>
            <a:ext cx="388483" cy="2214174"/>
          </a:xfrm>
          <a:prstGeom prst="leftBrace">
            <a:avLst>
              <a:gd name="adj1" fmla="val 71193"/>
              <a:gd name="adj2" fmla="val 49463"/>
            </a:avLst>
          </a:prstGeom>
          <a:ln w="76200">
            <a:solidFill>
              <a:srgbClr val="FD6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8F3081-BE33-8A94-0EB6-102E75267A5E}"/>
              </a:ext>
            </a:extLst>
          </p:cNvPr>
          <p:cNvSpPr txBox="1"/>
          <p:nvPr/>
        </p:nvSpPr>
        <p:spPr>
          <a:xfrm>
            <a:off x="5479313" y="1474127"/>
            <a:ext cx="3344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loops through 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861E66-BFAD-C80A-D0F5-9F48881DC8CA}"/>
              </a:ext>
            </a:extLst>
          </p:cNvPr>
          <p:cNvSpPr txBox="1"/>
          <p:nvPr/>
        </p:nvSpPr>
        <p:spPr>
          <a:xfrm>
            <a:off x="5469679" y="4077163"/>
            <a:ext cx="3344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loops through 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B75B53-7FB0-98C5-62D8-81452F848318}"/>
              </a:ext>
            </a:extLst>
          </p:cNvPr>
          <p:cNvSpPr txBox="1"/>
          <p:nvPr/>
        </p:nvSpPr>
        <p:spPr>
          <a:xfrm>
            <a:off x="294593" y="1891280"/>
            <a:ext cx="45407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2 nested loops to search all cells from </a:t>
            </a:r>
            <a:r>
              <a:rPr lang="en-US" sz="3600" dirty="0" err="1">
                <a:solidFill>
                  <a:srgbClr val="FFB521"/>
                </a:solidFill>
                <a:latin typeface="Pixelify Sans" pitchFamily="2" charset="0"/>
              </a:rPr>
              <a:t>minbound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 to </a:t>
            </a:r>
            <a:r>
              <a:rPr lang="en-US" sz="3600" dirty="0" err="1">
                <a:solidFill>
                  <a:srgbClr val="FFB521"/>
                </a:solidFill>
                <a:latin typeface="Pixelify Sans" pitchFamily="2" charset="0"/>
              </a:rPr>
              <a:t>maxbound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, it also calls the computing cell function</a:t>
            </a:r>
            <a:r>
              <a:rPr lang="ru-RU" sz="36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for each cell</a:t>
            </a:r>
            <a:r>
              <a:rPr lang="ru-RU" sz="3600" dirty="0">
                <a:solidFill>
                  <a:srgbClr val="FFB521"/>
                </a:solidFill>
                <a:latin typeface="Pixelify Sans" pitchFamily="2" charset="0"/>
              </a:rPr>
              <a:t> </a:t>
            </a:r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or skip null rows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62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32726-FBDD-7090-F42B-C9B6FB10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BE4541-2EB3-C01F-A429-BB3A14E398D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FE55492-E5B3-0BA5-9768-4CFAF2C828C3}"/>
              </a:ext>
            </a:extLst>
          </p:cNvPr>
          <p:cNvSpPr/>
          <p:nvPr/>
        </p:nvSpPr>
        <p:spPr>
          <a:xfrm>
            <a:off x="185738" y="177800"/>
            <a:ext cx="11820526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D99E2C1-2AA5-BDA2-A2C2-300FBFF583D5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77629A4-F17D-75BA-19DB-BD3B0C1C8097}"/>
              </a:ext>
            </a:extLst>
          </p:cNvPr>
          <p:cNvSpPr>
            <a:spLocks/>
          </p:cNvSpPr>
          <p:nvPr/>
        </p:nvSpPr>
        <p:spPr>
          <a:xfrm>
            <a:off x="4999783" y="1832431"/>
            <a:ext cx="7006481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BFDF5-C3D2-CCB5-E0EE-9F15A3AC1EEB}"/>
              </a:ext>
            </a:extLst>
          </p:cNvPr>
          <p:cNvSpPr txBox="1"/>
          <p:nvPr/>
        </p:nvSpPr>
        <p:spPr>
          <a:xfrm>
            <a:off x="4232379" y="365589"/>
            <a:ext cx="4378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21FFD5"/>
                </a:solidFill>
                <a:latin typeface="Pixelify Sans" pitchFamily="2" charset="0"/>
              </a:rPr>
              <a:t>Patterns</a:t>
            </a:r>
            <a:endParaRPr lang="ru-RU" sz="54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CB8046-1192-7190-D2FD-D486C4A7BB23}"/>
              </a:ext>
            </a:extLst>
          </p:cNvPr>
          <p:cNvSpPr txBox="1"/>
          <p:nvPr/>
        </p:nvSpPr>
        <p:spPr>
          <a:xfrm>
            <a:off x="294594" y="1891280"/>
            <a:ext cx="4325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All patterns in the game are recorded as labels of this type. There are also pattern labels in the game such as: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DDA72-DECB-C543-03ED-EF52ECE72CCC}"/>
              </a:ext>
            </a:extLst>
          </p:cNvPr>
          <p:cNvSpPr txBox="1"/>
          <p:nvPr/>
        </p:nvSpPr>
        <p:spPr>
          <a:xfrm>
            <a:off x="5838465" y="2175517"/>
            <a:ext cx="41536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Glider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Blinker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Butterfly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Byflops5</a:t>
            </a: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Monogram</a:t>
            </a:r>
          </a:p>
          <a:p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mickeyMouse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>
                <a:solidFill>
                  <a:srgbClr val="FD6BE8"/>
                </a:solidFill>
                <a:latin typeface="Pixelify Sans" pitchFamily="2" charset="0"/>
              </a:rPr>
              <a:t>Unix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  <a:p>
            <a:r>
              <a:rPr lang="en-US" sz="3200" dirty="0" err="1">
                <a:solidFill>
                  <a:srgbClr val="FD6BE8"/>
                </a:solidFill>
                <a:latin typeface="Pixelify Sans" pitchFamily="2" charset="0"/>
              </a:rPr>
              <a:t>QueenBee</a:t>
            </a:r>
            <a:endParaRPr lang="ru-RU" sz="3200" dirty="0">
              <a:solidFill>
                <a:srgbClr val="FD6BE8"/>
              </a:solidFill>
              <a:latin typeface="Pixelify Sans" pitchFamily="2" charset="0"/>
            </a:endParaRPr>
          </a:p>
        </p:txBody>
      </p:sp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F00DEBC8-B4EC-764A-AB84-ACCEC0575563}"/>
              </a:ext>
            </a:extLst>
          </p:cNvPr>
          <p:cNvSpPr/>
          <p:nvPr/>
        </p:nvSpPr>
        <p:spPr>
          <a:xfrm rot="16200000">
            <a:off x="5438282" y="2261896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481F05B5-9CCB-06B9-0B56-53C7AD7D76E4}"/>
              </a:ext>
            </a:extLst>
          </p:cNvPr>
          <p:cNvSpPr/>
          <p:nvPr/>
        </p:nvSpPr>
        <p:spPr>
          <a:xfrm rot="16200000">
            <a:off x="5445797" y="3247753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99675F69-284E-A824-9DB9-1ABAE5396895}"/>
              </a:ext>
            </a:extLst>
          </p:cNvPr>
          <p:cNvSpPr/>
          <p:nvPr/>
        </p:nvSpPr>
        <p:spPr>
          <a:xfrm rot="16200000">
            <a:off x="5438282" y="2776688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D0CFA9FB-EDDC-8D04-3759-0B48DC83E666}"/>
              </a:ext>
            </a:extLst>
          </p:cNvPr>
          <p:cNvSpPr/>
          <p:nvPr/>
        </p:nvSpPr>
        <p:spPr>
          <a:xfrm rot="16200000">
            <a:off x="5445797" y="3704712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A6A322E9-8D2A-A8B9-571B-50DC60DB85DB}"/>
              </a:ext>
            </a:extLst>
          </p:cNvPr>
          <p:cNvSpPr/>
          <p:nvPr/>
        </p:nvSpPr>
        <p:spPr>
          <a:xfrm rot="16200000">
            <a:off x="5453312" y="4690569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662CBF48-B8A6-B076-BDDA-07AEA35A0ADE}"/>
              </a:ext>
            </a:extLst>
          </p:cNvPr>
          <p:cNvSpPr/>
          <p:nvPr/>
        </p:nvSpPr>
        <p:spPr>
          <a:xfrm rot="16200000">
            <a:off x="5445797" y="4219504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14C955D4-EF8F-0A49-D2B6-D8D653450A07}"/>
              </a:ext>
            </a:extLst>
          </p:cNvPr>
          <p:cNvSpPr/>
          <p:nvPr/>
        </p:nvSpPr>
        <p:spPr>
          <a:xfrm rot="16200000">
            <a:off x="5453312" y="5147528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67961656-5C64-DBE6-C066-89A265423960}"/>
              </a:ext>
            </a:extLst>
          </p:cNvPr>
          <p:cNvSpPr/>
          <p:nvPr/>
        </p:nvSpPr>
        <p:spPr>
          <a:xfrm rot="16200000">
            <a:off x="5453312" y="5662320"/>
            <a:ext cx="293264" cy="373367"/>
          </a:xfrm>
          <a:prstGeom prst="downArrow">
            <a:avLst>
              <a:gd name="adj1" fmla="val 42466"/>
              <a:gd name="adj2" fmla="val 71288"/>
            </a:avLst>
          </a:prstGeom>
          <a:solidFill>
            <a:srgbClr val="FD6B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159933B-9BA2-C98C-DB59-97C0C93790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536"/>
          <a:stretch/>
        </p:blipFill>
        <p:spPr>
          <a:xfrm>
            <a:off x="8967416" y="1962340"/>
            <a:ext cx="2865245" cy="458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27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415F2-545C-14D3-F062-971231BA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D1251F-6C76-9CEC-7821-B2843FAA0FE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86D35A7-0913-42A6-6403-7D4649271909}"/>
              </a:ext>
            </a:extLst>
          </p:cNvPr>
          <p:cNvSpPr/>
          <p:nvPr/>
        </p:nvSpPr>
        <p:spPr>
          <a:xfrm>
            <a:off x="185738" y="177800"/>
            <a:ext cx="11820526" cy="1476829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C095816-1C64-2B91-8167-7E9CA7F012F3}"/>
              </a:ext>
            </a:extLst>
          </p:cNvPr>
          <p:cNvSpPr/>
          <p:nvPr/>
        </p:nvSpPr>
        <p:spPr>
          <a:xfrm>
            <a:off x="185738" y="1832432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5658C3E-C88B-BB83-43CA-65454C4BFABC}"/>
              </a:ext>
            </a:extLst>
          </p:cNvPr>
          <p:cNvSpPr>
            <a:spLocks/>
          </p:cNvSpPr>
          <p:nvPr/>
        </p:nvSpPr>
        <p:spPr>
          <a:xfrm>
            <a:off x="4999783" y="1832431"/>
            <a:ext cx="7006481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C77A78-C618-C9D8-1F1B-A0E652541949}"/>
              </a:ext>
            </a:extLst>
          </p:cNvPr>
          <p:cNvSpPr txBox="1"/>
          <p:nvPr/>
        </p:nvSpPr>
        <p:spPr>
          <a:xfrm>
            <a:off x="294594" y="1891280"/>
            <a:ext cx="4325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CPU takes the current position of the cursor and based on it starts to move it and draw the pattern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6" name="Рисунок 5" descr="Изображение выглядит как текст, снимок экрана, Прямоугольник, дисплей">
            <a:extLst>
              <a:ext uri="{FF2B5EF4-FFF2-40B4-BE49-F238E27FC236}">
                <a16:creationId xmlns:a16="http://schemas.microsoft.com/office/drawing/2014/main" id="{42927F63-BA4C-7AAF-DAA6-7AC8C4D13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397" y="2030819"/>
            <a:ext cx="4339584" cy="4475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73ACCB-5739-9FC8-810D-EE40895D3B70}"/>
              </a:ext>
            </a:extLst>
          </p:cNvPr>
          <p:cNvSpPr txBox="1"/>
          <p:nvPr/>
        </p:nvSpPr>
        <p:spPr>
          <a:xfrm>
            <a:off x="4232379" y="365589"/>
            <a:ext cx="4378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21FFD5"/>
                </a:solidFill>
                <a:latin typeface="Pixelify Sans" pitchFamily="2" charset="0"/>
              </a:rPr>
              <a:t>Patterns</a:t>
            </a:r>
            <a:endParaRPr lang="ru-RU" sz="5400" dirty="0">
              <a:solidFill>
                <a:srgbClr val="21FFD5"/>
              </a:solidFill>
              <a:latin typeface="Pixelify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60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7065-09E4-2750-E2B9-B5721492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6B9DC6E-5ACA-D7F0-D7CB-78F469451C8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DFF1B89-531F-B95E-8E1C-E535783473C6}"/>
              </a:ext>
            </a:extLst>
          </p:cNvPr>
          <p:cNvSpPr/>
          <p:nvPr/>
        </p:nvSpPr>
        <p:spPr>
          <a:xfrm>
            <a:off x="185738" y="177800"/>
            <a:ext cx="11820526" cy="6462233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FAFB52C-3C55-24CE-0BAA-ED1363543866}"/>
              </a:ext>
            </a:extLst>
          </p:cNvPr>
          <p:cNvSpPr/>
          <p:nvPr/>
        </p:nvSpPr>
        <p:spPr>
          <a:xfrm>
            <a:off x="185738" y="7021139"/>
            <a:ext cx="4628309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61738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2172622-F76D-ECA4-6E0B-485007E14A45}"/>
              </a:ext>
            </a:extLst>
          </p:cNvPr>
          <p:cNvSpPr>
            <a:spLocks/>
          </p:cNvSpPr>
          <p:nvPr/>
        </p:nvSpPr>
        <p:spPr>
          <a:xfrm>
            <a:off x="4999783" y="6967975"/>
            <a:ext cx="7006481" cy="4847767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6173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EFE945-890D-9C8C-C2AD-C0B17242E250}"/>
              </a:ext>
            </a:extLst>
          </p:cNvPr>
          <p:cNvSpPr txBox="1"/>
          <p:nvPr/>
        </p:nvSpPr>
        <p:spPr>
          <a:xfrm>
            <a:off x="294594" y="7079987"/>
            <a:ext cx="4325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B521"/>
                </a:solidFill>
                <a:latin typeface="Pixelify Sans" pitchFamily="2" charset="0"/>
              </a:rPr>
              <a:t>CPU takes the current position of the cursor and based on it starts to move it and draw the pattern</a:t>
            </a:r>
            <a:endParaRPr lang="ru-RU" sz="3600" dirty="0">
              <a:solidFill>
                <a:srgbClr val="FFB521"/>
              </a:solidFill>
              <a:latin typeface="Pixelify Sans" pitchFamily="2" charset="0"/>
            </a:endParaRPr>
          </a:p>
        </p:txBody>
      </p:sp>
      <p:pic>
        <p:nvPicPr>
          <p:cNvPr id="6" name="Рисунок 5" descr="Изображение выглядит как текст, снимок экрана, Прямоугольник, дисплей">
            <a:extLst>
              <a:ext uri="{FF2B5EF4-FFF2-40B4-BE49-F238E27FC236}">
                <a16:creationId xmlns:a16="http://schemas.microsoft.com/office/drawing/2014/main" id="{09B415D9-4374-E401-835C-7DD16154B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397" y="7166363"/>
            <a:ext cx="4339584" cy="4475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BAC0F6-6062-CDFE-5BC2-EEDABB531FE0}"/>
              </a:ext>
            </a:extLst>
          </p:cNvPr>
          <p:cNvSpPr txBox="1"/>
          <p:nvPr/>
        </p:nvSpPr>
        <p:spPr>
          <a:xfrm>
            <a:off x="1858015" y="2477892"/>
            <a:ext cx="847597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solidFill>
                  <a:srgbClr val="21FFD5"/>
                </a:solidFill>
                <a:latin typeface="Pixelify Sans" pitchFamily="2" charset="0"/>
              </a:rPr>
              <a:t>Let’s Play</a:t>
            </a:r>
            <a:endParaRPr lang="ru-RU" sz="115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AEBA5C-B92E-79ED-C17F-B0E866EF61C3}"/>
              </a:ext>
            </a:extLst>
          </p:cNvPr>
          <p:cNvSpPr/>
          <p:nvPr/>
        </p:nvSpPr>
        <p:spPr>
          <a:xfrm>
            <a:off x="12278508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1F4C22-9E05-0D29-0E5E-109EE3034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1142" y="293041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27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D47E9-648D-628C-E503-934BC8B57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978399-85A7-F8C8-C822-C9B6F1EE2C5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99F3614-43A6-95A3-B145-EC3160C3B786}"/>
              </a:ext>
            </a:extLst>
          </p:cNvPr>
          <p:cNvSpPr/>
          <p:nvPr/>
        </p:nvSpPr>
        <p:spPr>
          <a:xfrm>
            <a:off x="185738" y="4896293"/>
            <a:ext cx="11820526" cy="1743740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1D505-3FB8-6DB7-6D46-B304E3E64D87}"/>
              </a:ext>
            </a:extLst>
          </p:cNvPr>
          <p:cNvSpPr txBox="1"/>
          <p:nvPr/>
        </p:nvSpPr>
        <p:spPr>
          <a:xfrm>
            <a:off x="185736" y="5057675"/>
            <a:ext cx="11621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21FFD5"/>
                </a:solidFill>
                <a:latin typeface="Pixelify Sans" pitchFamily="2" charset="0"/>
              </a:rPr>
              <a:t>Thank you for listening!</a:t>
            </a:r>
            <a:endParaRPr lang="ru-RU" sz="7200" dirty="0">
              <a:solidFill>
                <a:srgbClr val="21FFD5"/>
              </a:solidFill>
              <a:latin typeface="Pixelify Sans" pitchFamily="2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A0D1377-AA3B-8230-5E47-D9E2F4B1517F}"/>
              </a:ext>
            </a:extLst>
          </p:cNvPr>
          <p:cNvSpPr/>
          <p:nvPr/>
        </p:nvSpPr>
        <p:spPr>
          <a:xfrm>
            <a:off x="185738" y="177800"/>
            <a:ext cx="8148410" cy="4477656"/>
          </a:xfrm>
          <a:prstGeom prst="roundRect">
            <a:avLst>
              <a:gd name="adj" fmla="val 0"/>
            </a:avLst>
          </a:prstGeom>
          <a:solidFill>
            <a:srgbClr val="061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12D07-B4D5-E886-AAB7-88E9CA581A91}"/>
              </a:ext>
            </a:extLst>
          </p:cNvPr>
          <p:cNvSpPr txBox="1"/>
          <p:nvPr/>
        </p:nvSpPr>
        <p:spPr>
          <a:xfrm>
            <a:off x="459018" y="685799"/>
            <a:ext cx="72770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" sz="9600" dirty="0">
                <a:solidFill>
                  <a:srgbClr val="21FFD5"/>
                </a:solidFill>
                <a:latin typeface="Pixelify Sans Medium" pitchFamily="2" charset="0"/>
              </a:rPr>
              <a:t>Conway game of life</a:t>
            </a:r>
            <a:endParaRPr lang="ru-RU" sz="9600" dirty="0">
              <a:solidFill>
                <a:srgbClr val="21FFD5"/>
              </a:solidFill>
              <a:latin typeface="Pixelify Sans Medium" pitchFamily="2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770C45E-71BF-8AEF-81A0-14B5D9C78C93}"/>
              </a:ext>
            </a:extLst>
          </p:cNvPr>
          <p:cNvSpPr/>
          <p:nvPr/>
        </p:nvSpPr>
        <p:spPr>
          <a:xfrm>
            <a:off x="8519886" y="192315"/>
            <a:ext cx="3486376" cy="4463142"/>
          </a:xfrm>
          <a:prstGeom prst="rect">
            <a:avLst/>
          </a:prstGeom>
          <a:solidFill>
            <a:srgbClr val="0617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622D53-49FF-B641-CB45-5D933B249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520" y="293041"/>
            <a:ext cx="3258570" cy="423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58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872</Words>
  <Application>Microsoft Office PowerPoint</Application>
  <PresentationFormat>Широкоэкранный</PresentationFormat>
  <Paragraphs>152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9" baseType="lpstr">
      <vt:lpstr>Arial</vt:lpstr>
      <vt:lpstr>Aptos Display</vt:lpstr>
      <vt:lpstr>Pixelify Sans Medium</vt:lpstr>
      <vt:lpstr>Pixelify Sans</vt:lpstr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Муруев</dc:creator>
  <cp:lastModifiedBy>Денис Муруев</cp:lastModifiedBy>
  <cp:revision>18</cp:revision>
  <dcterms:created xsi:type="dcterms:W3CDTF">2025-05-10T07:39:29Z</dcterms:created>
  <dcterms:modified xsi:type="dcterms:W3CDTF">2025-05-17T08:50:30Z</dcterms:modified>
</cp:coreProperties>
</file>